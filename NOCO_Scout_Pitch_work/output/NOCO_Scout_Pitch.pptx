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5fd6abbc954e40" /><Relationship Type="http://schemas.openxmlformats.org/officeDocument/2006/relationships/extended-properties" Target="/docProps/app.xml" Id="R6a8d0d09347c4d7b" /><Relationship Type="http://schemas.openxmlformats.org/officeDocument/2006/relationships/officeDocument" Target="/ppt/presentation.xml" Id="R526e7018003a4ff1" /></Relationships>
</file>

<file path=ppt/presentation.xml><?xml version="1.0" encoding="utf-8"?>
<p:presentation xmlns:p="http://schemas.openxmlformats.org/presentationml/2006/main">
  <p:sldMasterIdLst>
    <p:sldMasterId xmlns:r="http://schemas.openxmlformats.org/officeDocument/2006/relationships" id="2147483648" r:id="R250281944a8a49dd"/>
  </p:sldMasterIdLst>
  <p:notesMasterIdLst>
    <p:notesMasterId xmlns:r="http://schemas.openxmlformats.org/officeDocument/2006/relationships" r:id="Rb592f6d032be4423"/>
  </p:notesMasterIdLst>
  <p:sldIdLst>
    <p:sldId xmlns:r="http://schemas.openxmlformats.org/officeDocument/2006/relationships" id="256" r:id="R135f9ee7041d49ea"/>
    <p:sldId xmlns:r="http://schemas.openxmlformats.org/officeDocument/2006/relationships" id="257" r:id="R9a388b259aef45b3"/>
    <p:sldId xmlns:r="http://schemas.openxmlformats.org/officeDocument/2006/relationships" id="258" r:id="R9664eef7ab574f0f"/>
    <p:sldId xmlns:r="http://schemas.openxmlformats.org/officeDocument/2006/relationships" id="259" r:id="R08fa770bbed041a1"/>
    <p:sldId xmlns:r="http://schemas.openxmlformats.org/officeDocument/2006/relationships" id="260" r:id="R783491ea3c564d7c"/>
    <p:sldId xmlns:r="http://schemas.openxmlformats.org/officeDocument/2006/relationships" id="261" r:id="Rd550fb2c691f4dcb"/>
    <p:sldId xmlns:r="http://schemas.openxmlformats.org/officeDocument/2006/relationships" id="262" r:id="R33fb19dadec44ec9"/>
    <p:sldId xmlns:r="http://schemas.openxmlformats.org/officeDocument/2006/relationships" id="263" r:id="R354c0879062746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b90c606c8c4af2" /><Relationship Type="http://schemas.openxmlformats.org/officeDocument/2006/relationships/slideMaster" Target="/ppt/slideMasters/slideMaster1.xml" Id="R250281944a8a49dd" /><Relationship Type="http://schemas.openxmlformats.org/officeDocument/2006/relationships/notesMaster" Target="/ppt/notesMasters/notesMaster1.xml" Id="Rb592f6d032be4423" /><Relationship Type="http://schemas.openxmlformats.org/officeDocument/2006/relationships/presProps" Target="/ppt/presProps.xml" Id="R3682f780eaf145f2" /><Relationship Type="http://schemas.openxmlformats.org/officeDocument/2006/relationships/tableStyles" Target="/ppt/tableStyles.xml" Id="R49629ca1beec41fe" /><Relationship Type="http://schemas.openxmlformats.org/officeDocument/2006/relationships/slide" Target="/ppt/slides/slide1.xml" Id="R135f9ee7041d49ea" /><Relationship Type="http://schemas.openxmlformats.org/officeDocument/2006/relationships/slide" Target="/ppt/slides/slide2.xml" Id="R9a388b259aef45b3" /><Relationship Type="http://schemas.openxmlformats.org/officeDocument/2006/relationships/slide" Target="/ppt/slides/slide3.xml" Id="R9664eef7ab574f0f" /><Relationship Type="http://schemas.openxmlformats.org/officeDocument/2006/relationships/slide" Target="/ppt/slides/slide4.xml" Id="R08fa770bbed041a1" /><Relationship Type="http://schemas.openxmlformats.org/officeDocument/2006/relationships/slide" Target="/ppt/slides/slide5.xml" Id="R783491ea3c564d7c" /><Relationship Type="http://schemas.openxmlformats.org/officeDocument/2006/relationships/slide" Target="/ppt/slides/slide6.xml" Id="Rd550fb2c691f4dcb" /><Relationship Type="http://schemas.openxmlformats.org/officeDocument/2006/relationships/slide" Target="/ppt/slides/slide7.xml" Id="R33fb19dadec44ec9" /><Relationship Type="http://schemas.openxmlformats.org/officeDocument/2006/relationships/slide" Target="/ppt/slides/slide8.xml" Id="R354c0879062746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d39423ad974e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4aab091b6b4150" /><Relationship Type="http://schemas.openxmlformats.org/officeDocument/2006/relationships/notesMaster" Target="/ppt/notesMasters/notesMaster1.xml" Id="R325cf9d6cdca49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0f665f76a4c4b" /><Relationship Type="http://schemas.openxmlformats.org/officeDocument/2006/relationships/notesMaster" Target="/ppt/notesMasters/notesMaster1.xml" Id="R40ee5d2b754b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9bc19566c94b21" /><Relationship Type="http://schemas.openxmlformats.org/officeDocument/2006/relationships/notesMaster" Target="/ppt/notesMasters/notesMaster1.xml" Id="R2f87048e0e934c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02186b781043bd" /><Relationship Type="http://schemas.openxmlformats.org/officeDocument/2006/relationships/notesMaster" Target="/ppt/notesMasters/notesMaster1.xml" Id="R23e85a5d799545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41200aeeff4c9f" /><Relationship Type="http://schemas.openxmlformats.org/officeDocument/2006/relationships/notesMaster" Target="/ppt/notesMasters/notesMaster1.xml" Id="R5378e04f8f2049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df06fe72304125" /><Relationship Type="http://schemas.openxmlformats.org/officeDocument/2006/relationships/notesMaster" Target="/ppt/notesMasters/notesMaster1.xml" Id="Rb52063cbd4d244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d00c29ca144501" /><Relationship Type="http://schemas.openxmlformats.org/officeDocument/2006/relationships/notesMaster" Target="/ppt/notesMasters/notesMaster1.xml" Id="R100b2b401aec42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81bc4bb79f474a" /><Relationship Type="http://schemas.openxmlformats.org/officeDocument/2006/relationships/notesMaster" Target="/ppt/notesMasters/notesMaster1.xml" Id="R993a09c88a3e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0:00-0:15.</a:t>
            </a:r>
          </a:p>
          <a:p xmlns:a="http://schemas.openxmlformats.org/drawingml/2006/main">
            <a:r>
              <a:t>Say: A NOCO rep today has to visit a building, collect data, and go back to the office before quoting. We do it from an address.</a:t>
            </a:r>
          </a:p>
          <a:p xmlns:a="http://schemas.openxmlformats.org/drawingml/2006/main">
            <a:r>
              <a:t>Visual source: screenshot captured from the real offline NOCO Scout app. Map data: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0:15-0:40.</a:t>
            </a:r>
          </a:p>
          <a:p xmlns:a="http://schemas.openxmlformats.org/drawingml/2006/main">
            <a:r>
              <a:t>Say: Your own team told us it takes time. A rep cannot visit every building in the city, so most are never quoted.</a:t>
            </a:r>
          </a:p>
          <a:p xmlns:a="http://schemas.openxmlformats.org/drawingml/2006/main">
            <a:r>
              <a:t>Source: AI for Good briefing [03:49]-[04:13]. No unsupported claim about the number of days appears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0:40-1:05.</a:t>
            </a:r>
          </a:p>
          <a:p xmlns:a="http://schemas.openxmlformats.org/drawingml/2006/main">
            <a:r>
              <a:t>Say: Public map and property data give us perimeter, floors, and building type. Then we run the deterministic calculator based on NOCO's workbook.</a:t>
            </a:r>
          </a:p>
          <a:p xmlns:a="http://schemas.openxmlformats.org/drawingml/2006/main">
            <a:r>
              <a:t>Sources: US Census Geocoder, OpenStreetMap, City of Buffalo Final Assessment Roll, and the supplied NOCO reference workbook.</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driver: NguyenQBao. Presenter keeps talking. Timing: 1:05-2:55.</a:t>
            </a:r>
          </a:p>
          <a:p xmlns:a="http://schemas.openxmlformats.org/drawingml/2006/main">
            <a:r>
              <a:t>D1, about 40 seconds: Type the prepared Buffalo address. Show the 3D footprint and the Facts and confidence table. Click Estimate insulation upgrade. Point out that payback says needs installed cost when cost is unknown.</a:t>
            </a:r>
          </a:p>
          <a:p xmlns:a="http://schemas.openxmlformats.org/drawingml/2006/main">
            <a:r>
              <a:t>D2, about 50 seconds: Open Prospect Map. Click Show potential customers. Hover two or three buildings. Click one building for details. Say: Hover anywhere and you see where each number comes from.</a:t>
            </a:r>
          </a:p>
          <a:p xmlns:a="http://schemas.openxmlformats.org/drawingml/2006/main">
            <a:r>
              <a:t>D3, about 20 seconds: Open the customer report, then show the manager report and CSV controls. Keep the customer page visible for five seconds.</a:t>
            </a:r>
          </a:p>
          <a:p xmlns:a="http://schemas.openxmlformats.org/drawingml/2006/main">
            <a:r>
              <a:t>Backup: If the app fails, switch to the prepared 60-second recording and say: Here is the recorded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2:55-3:15.</a:t>
            </a:r>
          </a:p>
          <a:p xmlns:a="http://schemas.openxmlformats.org/drawingml/2006/main">
            <a:r>
              <a:t>Say: We tested the deterministic model against a reference case. The golden test passes within zero point one percent. Inputs, sources, and confidence remain visible, and unknown project cost stays unknown.</a:t>
            </a:r>
          </a:p>
          <a:p xmlns:a="http://schemas.openxmlformats.org/drawingml/2006/main">
            <a:r>
              <a:t>Evidence: tests/test_noco_calc.py passed before export. The supplied workbook's permission statement remains unanswered, so this slide intentionally omits its values and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3:15-3:30.</a:t>
            </a:r>
          </a:p>
          <a:p xmlns:a="http://schemas.openxmlformats.org/drawingml/2006/main">
            <a:r>
              <a:t>Say: The same tool serves the rep, the manager, and the building owner. Our offline demo dataset contains 300 Buffalo buildings ready to rank.</a:t>
            </a:r>
          </a:p>
          <a:p xmlns:a="http://schemas.openxmlformats.org/drawingml/2006/main">
            <a:r>
              <a:t>Evidence: data/public/demo_buildings.json contains 300 public-data records. NOCO opportunity figures remain illustrative until NOCO provides cost and margin definitions.</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3:30-3:50.</a:t>
            </a:r>
          </a:p>
          <a:p xmlns:a="http://schemas.openxmlformats.org/drawingml/2006/main">
            <a:r>
              <a:t>Say: Insulation is the first measure. The same pipeline extends to windows, HVAC, solar, more incentives, and every city NOCO serves. A future CRM connection can put ranked prospects into the sales workflow.</a:t>
            </a:r>
          </a:p>
          <a:p xmlns:a="http://schemas.openxmlformats.org/drawingml/2006/main">
            <a:r>
              <a:t>Future items are roadmap concepts, not features in the current demo. Disadvantaged-community targeting requires a verified public classification source before implementation.</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3:50-4:00.</a:t>
            </a:r>
          </a:p>
          <a:p xmlns:a="http://schemas.openxmlformats.org/drawingml/2006/main">
            <a:r>
              <a:t>Say: Give us 50 buildings and a week, and we will show your reps what a quote from an address looks like. Thank you.</a:t>
            </a:r>
          </a:p>
          <a:p xmlns:a="http://schemas.openxmlformats.org/drawingml/2006/main">
            <a:r>
              <a:t>The 50-building pilot is the team's proposed next step, not an existing commitment from NOCO.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c53a1683b42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8a37a33f4c4c41" /><Relationship Type="http://schemas.openxmlformats.org/officeDocument/2006/relationships/slideLayout" Target="/ppt/slideLayouts/slideLayout1.xml" Id="R0d34303e236f4b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34303e236f4b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cdda42716b4e2f" /><Relationship Type="http://schemas.openxmlformats.org/officeDocument/2006/relationships/image" Target="/ppt/media/image.png" Id="R73aa143c31b94aed" /><Relationship Type="http://schemas.openxmlformats.org/officeDocument/2006/relationships/notesSlide" Target="/ppt/notesSlides/notesSlide1.xml" Id="Rc02c01c0991b4b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735f6573474426" /><Relationship Type="http://schemas.openxmlformats.org/officeDocument/2006/relationships/notesSlide" Target="/ppt/notesSlides/notesSlide2.xml" Id="Re6609a03b9b946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86a8c94c8e4fae" /><Relationship Type="http://schemas.openxmlformats.org/officeDocument/2006/relationships/notesSlide" Target="/ppt/notesSlides/notesSlide3.xml" Id="Rad9e2db85e9a4e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df884841d044d6" /><Relationship Type="http://schemas.openxmlformats.org/officeDocument/2006/relationships/notesSlide" Target="/ppt/notesSlides/notesSlide4.xml" Id="R5ef242ae924041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e050379dcb47f3" /><Relationship Type="http://schemas.openxmlformats.org/officeDocument/2006/relationships/notesSlide" Target="/ppt/notesSlides/notesSlide5.xml" Id="Rc8c897a891a045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b64203f82f4aca" /><Relationship Type="http://schemas.openxmlformats.org/officeDocument/2006/relationships/image" Target="/ppt/media/image2.png" Id="Rc32d7b84c9ab4276" /><Relationship Type="http://schemas.openxmlformats.org/officeDocument/2006/relationships/notesSlide" Target="/ppt/notesSlides/notesSlide6.xml" Id="Rc3bd7111140042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0e0b6accb74ed3" /><Relationship Type="http://schemas.openxmlformats.org/officeDocument/2006/relationships/image" Target="/ppt/media/image3.png" Id="Re07bf8604b074f3d" /><Relationship Type="http://schemas.openxmlformats.org/officeDocument/2006/relationships/notesSlide" Target="/ppt/notesSlides/notesSlide7.xml" Id="R88cdb4430bc84d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8ef13104624219" /><Relationship Type="http://schemas.openxmlformats.org/officeDocument/2006/relationships/image" Target="/ppt/media/image4.png" Id="R3e458187687440d8" /><Relationship Type="http://schemas.openxmlformats.org/officeDocument/2006/relationships/notesSlide" Target="/ppt/notesSlides/notesSlide8.xml" Id="R7b866561e77b46f4" /></Relationships>
</file>

<file path=ppt/slides/slide1.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3aa143c31b94aed"/>
          <a:srcRect xmlns:a="http://schemas.openxmlformats.org/drawingml/2006/main" l="4832" t="0" r="4832"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DAAA8F-6669-4C3D-8514-3FB9542D32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10E">
              <a:alpha val="78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353B95-8636-495E-9BFC-5A4860B1112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A62E84-D7E2-45CD-83F9-2577887D817B}"/>
              </a:ext>
            </a:extLst>
          </p:cNvPr>
          <p:cNvSpPr>
            <a:spLocks xmlns:a="http://schemas.openxmlformats.org/drawingml/2006/main" noGrp="1"/>
          </p:cNvSpPr>
          <p:nvPr/>
        </p:nvSpPr>
        <p:spPr>
          <a:xfrm xmlns:a="http://schemas.openxmlformats.org/drawingml/2006/main">
            <a:off x="723900" y="1000125"/>
            <a:ext cx="733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581"/>
          </a:bodyPr>
          <a:lstStyle xmlns:a="http://schemas.openxmlformats.org/drawingml/2006/main"/>
          <a:p xmlns:a="http://schemas.openxmlformats.org/drawingml/2006/main">
            <a:pPr algn="l">
              <a:defRPr sz="5850" b="1">
                <a:solidFill>
                  <a:srgbClr val="F5F8F6"/>
                </a:solidFill>
                <a:latin typeface="Noto Sans"/>
                <a:ea typeface="Noto Sans"/>
                <a:cs typeface="Noto Sans"/>
              </a:defRPr>
            </a:pPr>
            <a:r>
              <a:rPr sz="5850" b="1">
                <a:solidFill>
                  <a:srgbClr val="F5F8F6"/>
                </a:solidFill>
                <a:latin typeface="Noto Sans"/>
                <a:ea typeface="Noto Sans"/>
                <a:cs typeface="Noto Sans"/>
              </a:rPr>
              <a:t>NOCO Scout</a:t>
            </a:r>
          </a:p>
        </p:txBody>
      </p:sp>
      <p:sp>
        <p:nvSpPr>
          <p:cNvPr id="5" name="">
            <a:extLst xmlns:a="http://schemas.openxmlformats.org/drawingml/2006/main">
              <a:ext uri="{FF2B5EF4-FFF2-40B4-BE49-F238E27FC236}">
                <a16:creationId xmlns:a16="http://schemas.microsoft.com/office/drawing/2014/main" id="{45BF7CAC-6B61-4835-BDB1-B1A93FB783F7}"/>
              </a:ext>
            </a:extLst>
          </p:cNvPr>
          <p:cNvSpPr>
            <a:spLocks xmlns:a="http://schemas.openxmlformats.org/drawingml/2006/main" noGrp="1"/>
          </p:cNvSpPr>
          <p:nvPr/>
        </p:nvSpPr>
        <p:spPr>
          <a:xfrm xmlns:a="http://schemas.openxmlformats.org/drawingml/2006/main">
            <a:off x="762000" y="2076450"/>
            <a:ext cx="657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000" b="0">
                <a:solidFill>
                  <a:srgbClr val="F5F8F6"/>
                </a:solidFill>
                <a:latin typeface="Noto Sans"/>
                <a:ea typeface="Noto Sans"/>
                <a:cs typeface="Noto Sans"/>
              </a:defRPr>
            </a:pPr>
            <a:r>
              <a:rPr sz="3000" b="0">
                <a:solidFill>
                  <a:srgbClr val="F5F8F6"/>
                </a:solidFill>
                <a:latin typeface="Noto Sans"/>
                <a:ea typeface="Noto Sans"/>
                <a:cs typeface="Noto Sans"/>
              </a:rPr>
              <a:t>From an address to a customer ready quote in seconds</a:t>
            </a:r>
          </a:p>
        </p:txBody>
      </p:sp>
      <p:sp>
        <p:nvSpPr>
          <p:cNvPr id="6" name="">
            <a:extLst xmlns:a="http://schemas.openxmlformats.org/drawingml/2006/main">
              <a:ext uri="{FF2B5EF4-FFF2-40B4-BE49-F238E27FC236}">
                <a16:creationId xmlns:a16="http://schemas.microsoft.com/office/drawing/2014/main" id="{88587875-5143-4C73-93E9-993215E1C7B3}"/>
              </a:ext>
            </a:extLst>
          </p:cNvPr>
          <p:cNvSpPr>
            <a:spLocks xmlns:a="http://schemas.openxmlformats.org/drawingml/2006/main" noGrp="1"/>
          </p:cNvSpPr>
          <p:nvPr/>
        </p:nvSpPr>
        <p:spPr>
          <a:xfrm xmlns:a="http://schemas.openxmlformats.org/drawingml/2006/main">
            <a:off x="781050" y="49530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AAC0B7"/>
                </a:solidFill>
                <a:latin typeface="Noto Sans"/>
                <a:ea typeface="Noto Sans"/>
                <a:cs typeface="Noto Sans"/>
              </a:defRPr>
            </a:pPr>
            <a:r>
              <a:rPr sz="1650" b="0">
                <a:solidFill>
                  <a:srgbClr val="AAC0B7"/>
                </a:solidFill>
                <a:latin typeface="Noto Sans"/>
                <a:ea typeface="Noto Sans"/>
                <a:cs typeface="Noto Sans"/>
              </a:rPr>
              <a:t>AI for Good Hackathon</a:t>
            </a:r>
          </a:p>
          <a:p xmlns:a="http://schemas.openxmlformats.org/drawingml/2006/main">
            <a:pPr algn="l">
              <a:defRPr sz="1650" b="0">
                <a:solidFill>
                  <a:srgbClr val="AAC0B7"/>
                </a:solidFill>
                <a:latin typeface="Noto Sans"/>
                <a:ea typeface="Noto Sans"/>
                <a:cs typeface="Noto Sans"/>
              </a:defRPr>
            </a:pPr>
            <a:r>
              <a:rPr sz="1650" b="0">
                <a:solidFill>
                  <a:srgbClr val="AAC0B7"/>
                </a:solidFill>
                <a:latin typeface="Noto Sans"/>
                <a:ea typeface="Noto Sans"/>
                <a:cs typeface="Noto Sans"/>
              </a:rPr>
              <a:t>NOCO challenge</a:t>
            </a:r>
          </a:p>
        </p:txBody>
      </p:sp>
      <p:sp>
        <p:nvSpPr>
          <p:cNvPr id="7" name="">
            <a:extLst xmlns:a="http://schemas.openxmlformats.org/drawingml/2006/main">
              <a:ext uri="{FF2B5EF4-FFF2-40B4-BE49-F238E27FC236}">
                <a16:creationId xmlns:a16="http://schemas.microsoft.com/office/drawing/2014/main" id="{21AE1C1D-1F69-4BBB-945A-73BD708B2719}"/>
              </a:ext>
            </a:extLst>
          </p:cNvPr>
          <p:cNvSpPr>
            <a:spLocks xmlns:a="http://schemas.openxmlformats.org/drawingml/2006/main" noGrp="1"/>
          </p:cNvSpPr>
          <p:nvPr/>
        </p:nvSpPr>
        <p:spPr>
          <a:xfrm xmlns:a="http://schemas.openxmlformats.org/drawingml/2006/main">
            <a:off x="781050" y="5905500"/>
            <a:ext cx="885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5F8F6"/>
                </a:solidFill>
                <a:latin typeface="Noto Sans"/>
                <a:ea typeface="Noto Sans"/>
                <a:cs typeface="Noto Sans"/>
              </a:defRPr>
            </a:pPr>
            <a:r>
              <a:rPr sz="1275" b="0">
                <a:solidFill>
                  <a:srgbClr val="F5F8F6"/>
                </a:solidFill>
                <a:latin typeface="Noto Sans"/>
                <a:ea typeface="Noto Sans"/>
                <a:cs typeface="Noto Sans"/>
              </a:rPr>
              <a:t>Nguyen-Le-Tuan   Anh-08   phamvotriduc241106   NguyenQBao</a:t>
            </a:r>
          </a:p>
        </p:txBody>
      </p:sp>
      <p:sp>
        <p:nvSpPr>
          <p:cNvPr id="8" name="">
            <a:extLst xmlns:a="http://schemas.openxmlformats.org/drawingml/2006/main">
              <a:ext uri="{FF2B5EF4-FFF2-40B4-BE49-F238E27FC236}">
                <a16:creationId xmlns:a16="http://schemas.microsoft.com/office/drawing/2014/main" id="{1BF3B4D4-3355-4B3A-8579-C368BCAB101D}"/>
              </a:ext>
            </a:extLst>
          </p:cNvPr>
          <p:cNvSpPr>
            <a:spLocks xmlns:a="http://schemas.openxmlformats.org/drawingml/2006/main" noGrp="1"/>
          </p:cNvSpPr>
          <p:nvPr/>
        </p:nvSpPr>
        <p:spPr>
          <a:xfrm xmlns:a="http://schemas.openxmlformats.org/drawingml/2006/main">
            <a:off x="8858250" y="64579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r">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455027687"/>
      </p:ext>
    </p:extLst>
  </p:cSld>
</p:sld>
</file>

<file path=ppt/slides/slide2.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52CD16-9E9F-4D50-843C-63FD4903BECE}"/>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02</a:t>
            </a:r>
          </a:p>
        </p:txBody>
      </p:sp>
      <p:sp>
        <p:nvSpPr>
          <p:cNvPr id="2" name="">
            <a:extLst xmlns:a="http://schemas.openxmlformats.org/drawingml/2006/main">
              <a:ext uri="{FF2B5EF4-FFF2-40B4-BE49-F238E27FC236}">
                <a16:creationId xmlns:a16="http://schemas.microsoft.com/office/drawing/2014/main" id="{C2E057AE-38CF-45A6-ABF0-F8FE3F6BBF2D}"/>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The quoting workflow today</a:t>
            </a:r>
          </a:p>
        </p:txBody>
      </p:sp>
      <p:sp>
        <p:nvSpPr>
          <p:cNvPr id="3" name="">
            <a:extLst xmlns:a="http://schemas.openxmlformats.org/drawingml/2006/main">
              <a:ext uri="{FF2B5EF4-FFF2-40B4-BE49-F238E27FC236}">
                <a16:creationId xmlns:a16="http://schemas.microsoft.com/office/drawing/2014/main" id="{C88FA885-5C3D-4CAA-AEA3-DBD290964318}"/>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5AAEDF-58E1-4733-8BFF-9303962367FC}"/>
              </a:ext>
            </a:extLst>
          </p:cNvPr>
          <p:cNvSpPr>
            <a:spLocks xmlns:a="http://schemas.openxmlformats.org/drawingml/2006/main" noGrp="1"/>
          </p:cNvSpPr>
          <p:nvPr/>
        </p:nvSpPr>
        <p:spPr>
          <a:xfrm xmlns:a="http://schemas.openxmlformats.org/drawingml/2006/main">
            <a:off x="914400"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01</a:t>
            </a:r>
          </a:p>
        </p:txBody>
      </p:sp>
      <p:sp>
        <p:nvSpPr>
          <p:cNvPr id="5" name="">
            <a:extLst xmlns:a="http://schemas.openxmlformats.org/drawingml/2006/main">
              <a:ext uri="{FF2B5EF4-FFF2-40B4-BE49-F238E27FC236}">
                <a16:creationId xmlns:a16="http://schemas.microsoft.com/office/drawing/2014/main" id="{381F3635-E442-4BC5-8CE1-802FC79A9649}"/>
              </a:ext>
            </a:extLst>
          </p:cNvPr>
          <p:cNvSpPr>
            <a:spLocks xmlns:a="http://schemas.openxmlformats.org/drawingml/2006/main" noGrp="1"/>
          </p:cNvSpPr>
          <p:nvPr/>
        </p:nvSpPr>
        <p:spPr>
          <a:xfrm xmlns:a="http://schemas.openxmlformats.org/drawingml/2006/main">
            <a:off x="914400"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SITE VISIT</a:t>
            </a:r>
          </a:p>
        </p:txBody>
      </p:sp>
      <p:sp>
        <p:nvSpPr>
          <p:cNvPr id="6" name="">
            <a:extLst xmlns:a="http://schemas.openxmlformats.org/drawingml/2006/main">
              <a:ext uri="{FF2B5EF4-FFF2-40B4-BE49-F238E27FC236}">
                <a16:creationId xmlns:a16="http://schemas.microsoft.com/office/drawing/2014/main" id="{E13BEE72-38E7-4920-A44B-7F7FFB1E39A8}"/>
              </a:ext>
            </a:extLst>
          </p:cNvPr>
          <p:cNvSpPr>
            <a:spLocks xmlns:a="http://schemas.openxmlformats.org/drawingml/2006/main" noGrp="1"/>
          </p:cNvSpPr>
          <p:nvPr/>
        </p:nvSpPr>
        <p:spPr>
          <a:xfrm xmlns:a="http://schemas.openxmlformats.org/drawingml/2006/main">
            <a:off x="4676775"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02</a:t>
            </a:r>
          </a:p>
        </p:txBody>
      </p:sp>
      <p:sp>
        <p:nvSpPr>
          <p:cNvPr id="7" name="">
            <a:extLst xmlns:a="http://schemas.openxmlformats.org/drawingml/2006/main">
              <a:ext uri="{FF2B5EF4-FFF2-40B4-BE49-F238E27FC236}">
                <a16:creationId xmlns:a16="http://schemas.microsoft.com/office/drawing/2014/main" id="{4DC310E9-15DB-4116-961B-E8F92A80756A}"/>
              </a:ext>
            </a:extLst>
          </p:cNvPr>
          <p:cNvSpPr>
            <a:spLocks xmlns:a="http://schemas.openxmlformats.org/drawingml/2006/main" noGrp="1"/>
          </p:cNvSpPr>
          <p:nvPr/>
        </p:nvSpPr>
        <p:spPr>
          <a:xfrm xmlns:a="http://schemas.openxmlformats.org/drawingml/2006/main">
            <a:off x="4676775"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RESEARCH</a:t>
            </a:r>
          </a:p>
        </p:txBody>
      </p:sp>
      <p:sp>
        <p:nvSpPr>
          <p:cNvPr id="8" name="">
            <a:extLst xmlns:a="http://schemas.openxmlformats.org/drawingml/2006/main">
              <a:ext uri="{FF2B5EF4-FFF2-40B4-BE49-F238E27FC236}">
                <a16:creationId xmlns:a16="http://schemas.microsoft.com/office/drawing/2014/main" id="{946D652C-3515-40BA-BE67-36829CC349EA}"/>
              </a:ext>
            </a:extLst>
          </p:cNvPr>
          <p:cNvSpPr>
            <a:spLocks xmlns:a="http://schemas.openxmlformats.org/drawingml/2006/main" noGrp="1"/>
          </p:cNvSpPr>
          <p:nvPr/>
        </p:nvSpPr>
        <p:spPr>
          <a:xfrm xmlns:a="http://schemas.openxmlformats.org/drawingml/2006/main">
            <a:off x="8439150"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03</a:t>
            </a:r>
          </a:p>
        </p:txBody>
      </p:sp>
      <p:sp>
        <p:nvSpPr>
          <p:cNvPr id="9" name="">
            <a:extLst xmlns:a="http://schemas.openxmlformats.org/drawingml/2006/main">
              <a:ext uri="{FF2B5EF4-FFF2-40B4-BE49-F238E27FC236}">
                <a16:creationId xmlns:a16="http://schemas.microsoft.com/office/drawing/2014/main" id="{F00E177C-561E-44E0-8312-8B508767B30D}"/>
              </a:ext>
            </a:extLst>
          </p:cNvPr>
          <p:cNvSpPr>
            <a:spLocks xmlns:a="http://schemas.openxmlformats.org/drawingml/2006/main" noGrp="1"/>
          </p:cNvSpPr>
          <p:nvPr/>
        </p:nvSpPr>
        <p:spPr>
          <a:xfrm xmlns:a="http://schemas.openxmlformats.org/drawingml/2006/main">
            <a:off x="8439150"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QUOTE</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3486150" y="3467100"/>
            <a:ext cx="1190625" cy="0"/>
          </a:xfrm>
          <a:prstGeom xmlns:a="http://schemas.openxmlformats.org/drawingml/2006/main" prst="straightConnector1">
            <a:avLst/>
          </a:prstGeom>
          <a:ln xmlns:a="http://schemas.openxmlformats.org/drawingml/2006/main" w="28575">
            <a:solidFill>
              <a:srgbClr val="2FD39A"/>
            </a:solidFill>
            <a:prstDash val="solid"/>
            <a:headEnd type="triangle" w="med" len="med"/>
          </a:ln>
        </p:spPr>
      </p:cxnSp>
      <p:cxnSp>
        <p:nvCxnSpPr>
          <p:cNvPr id="24" name=""/>
          <p:cNvCxnSpPr>
            <a:stCxn xmlns:a="http://schemas.openxmlformats.org/drawingml/2006/main" id="7" idx="3"/>
            <a:endCxn xmlns:a="http://schemas.openxmlformats.org/drawingml/2006/main" id="9" idx="1"/>
          </p:cNvCxnSpPr>
          <p:nvPr/>
        </p:nvCxnSpPr>
        <p:spPr>
          <a:xfrm xmlns:a="http://schemas.openxmlformats.org/drawingml/2006/main">
            <a:off x="7248525" y="3467100"/>
            <a:ext cx="1190625" cy="0"/>
          </a:xfrm>
          <a:prstGeom xmlns:a="http://schemas.openxmlformats.org/drawingml/2006/main" prst="straightConnector1">
            <a:avLst/>
          </a:prstGeom>
          <a:ln xmlns:a="http://schemas.openxmlformats.org/drawingml/2006/main" w="28575">
            <a:solidFill>
              <a:srgbClr val="2FD39A"/>
            </a:solidFill>
            <a:prstDash val="solid"/>
            <a:headEnd type="triangle" w="med" len="med"/>
          </a:ln>
        </p:spPr>
      </p:cxnSp>
      <p:sp>
        <p:nvSpPr>
          <p:cNvPr id="12" name="">
            <a:extLst xmlns:a="http://schemas.openxmlformats.org/drawingml/2006/main">
              <a:ext uri="{FF2B5EF4-FFF2-40B4-BE49-F238E27FC236}">
                <a16:creationId xmlns:a16="http://schemas.microsoft.com/office/drawing/2014/main" id="{120C1C63-BCAB-455D-8395-446AF4E80106}"/>
              </a:ext>
            </a:extLst>
          </p:cNvPr>
          <p:cNvSpPr>
            <a:spLocks xmlns:a="http://schemas.openxmlformats.org/drawingml/2006/main" noGrp="1"/>
          </p:cNvSpPr>
          <p:nvPr/>
        </p:nvSpPr>
        <p:spPr>
          <a:xfrm xmlns:a="http://schemas.openxmlformats.org/drawingml/2006/main">
            <a:off x="952500" y="468630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3900" b="1">
                <a:solidFill>
                  <a:srgbClr val="F5F8F6"/>
                </a:solidFill>
                <a:latin typeface="Noto Sans"/>
                <a:ea typeface="Noto Sans"/>
                <a:cs typeface="Noto Sans"/>
              </a:defRPr>
            </a:pPr>
            <a:r>
              <a:rPr sz="3900" b="1">
                <a:solidFill>
                  <a:srgbClr val="F5F8F6"/>
                </a:solidFill>
                <a:latin typeface="Noto Sans"/>
                <a:ea typeface="Noto Sans"/>
                <a:cs typeface="Noto Sans"/>
              </a:rPr>
              <a:t>All of it takes time</a:t>
            </a:r>
          </a:p>
        </p:txBody>
      </p:sp>
      <p:sp>
        <p:nvSpPr>
          <p:cNvPr id="13" name="">
            <a:extLst xmlns:a="http://schemas.openxmlformats.org/drawingml/2006/main">
              <a:ext uri="{FF2B5EF4-FFF2-40B4-BE49-F238E27FC236}">
                <a16:creationId xmlns:a16="http://schemas.microsoft.com/office/drawing/2014/main" id="{67A55DB3-E7FF-4502-B863-37B6B45890AF}"/>
              </a:ext>
            </a:extLst>
          </p:cNvPr>
          <p:cNvSpPr>
            <a:spLocks xmlns:a="http://schemas.openxmlformats.org/drawingml/2006/main" noGrp="1"/>
          </p:cNvSpPr>
          <p:nvPr/>
        </p:nvSpPr>
        <p:spPr>
          <a:xfrm xmlns:a="http://schemas.openxmlformats.org/drawingml/2006/main">
            <a:off x="590550" y="643890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0">
                <a:solidFill>
                  <a:srgbClr val="AAC0B7"/>
                </a:solidFill>
                <a:latin typeface="Noto Sans"/>
                <a:ea typeface="Noto Sans"/>
                <a:cs typeface="Noto Sans"/>
              </a:defRPr>
            </a:pPr>
            <a:r>
              <a:rPr sz="1200" b="0">
                <a:solidFill>
                  <a:srgbClr val="AAC0B7"/>
                </a:solidFill>
                <a:latin typeface="Noto Sans"/>
                <a:ea typeface="Noto Sans"/>
                <a:cs typeface="Noto Sans"/>
              </a:rPr>
              <a:t>Source: AI for Good briefing [03:49]-[04:13]</a:t>
            </a:r>
          </a:p>
        </p:txBody>
      </p:sp>
    </p:spTree>
    <p:extLst>
      <p:ext uri="{BB962C8B-B14F-4D97-AF65-F5344CB8AC3E}">
        <p14:creationId xmlns:p14="http://schemas.microsoft.com/office/powerpoint/2010/main" val="1481490996"/>
      </p:ext>
    </p:extLst>
  </p:cSld>
</p:sld>
</file>

<file path=ppt/slides/slide3.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AC9E46E-EB58-4E03-9968-6A63459DECEB}"/>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03</a:t>
            </a:r>
          </a:p>
        </p:txBody>
      </p:sp>
      <p:sp>
        <p:nvSpPr>
          <p:cNvPr id="2" name="">
            <a:extLst xmlns:a="http://schemas.openxmlformats.org/drawingml/2006/main">
              <a:ext uri="{FF2B5EF4-FFF2-40B4-BE49-F238E27FC236}">
                <a16:creationId xmlns:a16="http://schemas.microsoft.com/office/drawing/2014/main" id="{132E565D-9596-4069-BDA7-7A4DBD3B38CB}"/>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Address to quote</a:t>
            </a:r>
          </a:p>
        </p:txBody>
      </p:sp>
      <p:sp>
        <p:nvSpPr>
          <p:cNvPr id="3" name="">
            <a:extLst xmlns:a="http://schemas.openxmlformats.org/drawingml/2006/main">
              <a:ext uri="{FF2B5EF4-FFF2-40B4-BE49-F238E27FC236}">
                <a16:creationId xmlns:a16="http://schemas.microsoft.com/office/drawing/2014/main" id="{BF4A78FC-A8BD-4DB5-A517-BF7C96266031}"/>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956214-CD87-4C15-8184-403662FD7932}"/>
              </a:ext>
            </a:extLst>
          </p:cNvPr>
          <p:cNvSpPr>
            <a:spLocks xmlns:a="http://schemas.openxmlformats.org/drawingml/2006/main" noGrp="1"/>
          </p:cNvSpPr>
          <p:nvPr/>
        </p:nvSpPr>
        <p:spPr>
          <a:xfrm xmlns:a="http://schemas.openxmlformats.org/drawingml/2006/main">
            <a:off x="819150" y="2571750"/>
            <a:ext cx="285750" cy="285750"/>
          </a:xfrm>
          <a:prstGeom xmlns:a="http://schemas.openxmlformats.org/drawingml/2006/main" prst="ellipse">
            <a:avLst/>
          </a:prstGeom>
          <a:solidFill xmlns:a="http://schemas.openxmlformats.org/drawingml/2006/main">
            <a:srgbClr val="2FD39A"/>
          </a:solidFill>
          <a:ln xmlns:a="http://schemas.openxmlformats.org/drawingml/2006/main" w="28575">
            <a:solidFill>
              <a:srgbClr val="2FD39A"/>
            </a:solidFill>
            <a:prstDash val="solid"/>
          </a:ln>
        </p:spPr>
      </p:sp>
      <p:sp>
        <p:nvSpPr>
          <p:cNvPr id="5" name="">
            <a:extLst xmlns:a="http://schemas.openxmlformats.org/drawingml/2006/main">
              <a:ext uri="{FF2B5EF4-FFF2-40B4-BE49-F238E27FC236}">
                <a16:creationId xmlns:a16="http://schemas.microsoft.com/office/drawing/2014/main" id="{B8879E0C-7ADA-4275-BF54-C6C6F83B623C}"/>
              </a:ext>
            </a:extLst>
          </p:cNvPr>
          <p:cNvSpPr>
            <a:spLocks xmlns:a="http://schemas.openxmlformats.org/drawingml/2006/main" noGrp="1"/>
          </p:cNvSpPr>
          <p:nvPr/>
        </p:nvSpPr>
        <p:spPr>
          <a:xfrm xmlns:a="http://schemas.openxmlformats.org/drawingml/2006/main">
            <a:off x="2952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5F8F6"/>
                </a:solidFill>
                <a:latin typeface="Noto Sans"/>
                <a:ea typeface="Noto Sans"/>
                <a:cs typeface="Noto Sans"/>
              </a:defRPr>
            </a:pPr>
            <a:r>
              <a:rPr sz="1650" b="1">
                <a:solidFill>
                  <a:srgbClr val="F5F8F6"/>
                </a:solidFill>
                <a:latin typeface="Noto Sans"/>
                <a:ea typeface="Noto Sans"/>
                <a:cs typeface="Noto Sans"/>
              </a:rPr>
              <a:t>ADDRESS</a:t>
            </a:r>
          </a:p>
        </p:txBody>
      </p:sp>
      <p:sp>
        <p:nvSpPr>
          <p:cNvPr id="6" name="">
            <a:extLst xmlns:a="http://schemas.openxmlformats.org/drawingml/2006/main">
              <a:ext uri="{FF2B5EF4-FFF2-40B4-BE49-F238E27FC236}">
                <a16:creationId xmlns:a16="http://schemas.microsoft.com/office/drawing/2014/main" id="{F83A874D-8030-494D-8F42-73FB397BEF17}"/>
              </a:ext>
            </a:extLst>
          </p:cNvPr>
          <p:cNvSpPr>
            <a:spLocks xmlns:a="http://schemas.openxmlformats.org/drawingml/2006/main" noGrp="1"/>
          </p:cNvSpPr>
          <p:nvPr/>
        </p:nvSpPr>
        <p:spPr>
          <a:xfrm xmlns:a="http://schemas.openxmlformats.org/drawingml/2006/main">
            <a:off x="26479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1</a:t>
            </a:r>
          </a:p>
        </p:txBody>
      </p:sp>
      <p:sp>
        <p:nvSpPr>
          <p:cNvPr id="7" name="">
            <a:extLst xmlns:a="http://schemas.openxmlformats.org/drawingml/2006/main">
              <a:ext uri="{FF2B5EF4-FFF2-40B4-BE49-F238E27FC236}">
                <a16:creationId xmlns:a16="http://schemas.microsoft.com/office/drawing/2014/main" id="{1228A426-5080-4A41-89CC-C8AC0CAE6157}"/>
              </a:ext>
            </a:extLst>
          </p:cNvPr>
          <p:cNvSpPr>
            <a:spLocks xmlns:a="http://schemas.openxmlformats.org/drawingml/2006/main" noGrp="1"/>
          </p:cNvSpPr>
          <p:nvPr/>
        </p:nvSpPr>
        <p:spPr>
          <a:xfrm xmlns:a="http://schemas.openxmlformats.org/drawingml/2006/main">
            <a:off x="21240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CENSUS</a:t>
            </a:r>
          </a:p>
        </p:txBody>
      </p:sp>
      <p:sp>
        <p:nvSpPr>
          <p:cNvPr id="8" name="">
            <a:extLst xmlns:a="http://schemas.openxmlformats.org/drawingml/2006/main">
              <a:ext uri="{FF2B5EF4-FFF2-40B4-BE49-F238E27FC236}">
                <a16:creationId xmlns:a16="http://schemas.microsoft.com/office/drawing/2014/main" id="{4B550A95-DE69-4DB8-8A39-8C3579B33FFF}"/>
              </a:ext>
            </a:extLst>
          </p:cNvPr>
          <p:cNvSpPr>
            <a:spLocks xmlns:a="http://schemas.openxmlformats.org/drawingml/2006/main" noGrp="1"/>
          </p:cNvSpPr>
          <p:nvPr/>
        </p:nvSpPr>
        <p:spPr>
          <a:xfrm xmlns:a="http://schemas.openxmlformats.org/drawingml/2006/main">
            <a:off x="44767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2</a:t>
            </a:r>
          </a:p>
        </p:txBody>
      </p:sp>
      <p:sp>
        <p:nvSpPr>
          <p:cNvPr id="9" name="">
            <a:extLst xmlns:a="http://schemas.openxmlformats.org/drawingml/2006/main">
              <a:ext uri="{FF2B5EF4-FFF2-40B4-BE49-F238E27FC236}">
                <a16:creationId xmlns:a16="http://schemas.microsoft.com/office/drawing/2014/main" id="{FE548E19-7986-4D4E-A3C3-06EE1B62F666}"/>
              </a:ext>
            </a:extLst>
          </p:cNvPr>
          <p:cNvSpPr>
            <a:spLocks xmlns:a="http://schemas.openxmlformats.org/drawingml/2006/main" noGrp="1"/>
          </p:cNvSpPr>
          <p:nvPr/>
        </p:nvSpPr>
        <p:spPr>
          <a:xfrm xmlns:a="http://schemas.openxmlformats.org/drawingml/2006/main">
            <a:off x="39528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OSM</a:t>
            </a:r>
          </a:p>
        </p:txBody>
      </p:sp>
      <p:sp>
        <p:nvSpPr>
          <p:cNvPr id="10" name="">
            <a:extLst xmlns:a="http://schemas.openxmlformats.org/drawingml/2006/main">
              <a:ext uri="{FF2B5EF4-FFF2-40B4-BE49-F238E27FC236}">
                <a16:creationId xmlns:a16="http://schemas.microsoft.com/office/drawing/2014/main" id="{D646FBF4-028C-4098-8CA3-EF8679D84899}"/>
              </a:ext>
            </a:extLst>
          </p:cNvPr>
          <p:cNvSpPr>
            <a:spLocks xmlns:a="http://schemas.openxmlformats.org/drawingml/2006/main" noGrp="1"/>
          </p:cNvSpPr>
          <p:nvPr/>
        </p:nvSpPr>
        <p:spPr>
          <a:xfrm xmlns:a="http://schemas.openxmlformats.org/drawingml/2006/main">
            <a:off x="63055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3</a:t>
            </a:r>
          </a:p>
        </p:txBody>
      </p:sp>
      <p:sp>
        <p:nvSpPr>
          <p:cNvPr id="11" name="">
            <a:extLst xmlns:a="http://schemas.openxmlformats.org/drawingml/2006/main">
              <a:ext uri="{FF2B5EF4-FFF2-40B4-BE49-F238E27FC236}">
                <a16:creationId xmlns:a16="http://schemas.microsoft.com/office/drawing/2014/main" id="{F2077E63-8000-4DD8-ADBB-79433866503E}"/>
              </a:ext>
            </a:extLst>
          </p:cNvPr>
          <p:cNvSpPr>
            <a:spLocks xmlns:a="http://schemas.openxmlformats.org/drawingml/2006/main" noGrp="1"/>
          </p:cNvSpPr>
          <p:nvPr/>
        </p:nvSpPr>
        <p:spPr>
          <a:xfrm xmlns:a="http://schemas.openxmlformats.org/drawingml/2006/main">
            <a:off x="57816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BUFFALO</a:t>
            </a:r>
          </a:p>
        </p:txBody>
      </p:sp>
      <p:sp>
        <p:nvSpPr>
          <p:cNvPr id="12" name="">
            <a:extLst xmlns:a="http://schemas.openxmlformats.org/drawingml/2006/main">
              <a:ext uri="{FF2B5EF4-FFF2-40B4-BE49-F238E27FC236}">
                <a16:creationId xmlns:a16="http://schemas.microsoft.com/office/drawing/2014/main" id="{A9E6E7F5-F24E-4C43-8C4C-F683A0FEA0BA}"/>
              </a:ext>
            </a:extLst>
          </p:cNvPr>
          <p:cNvSpPr>
            <a:spLocks xmlns:a="http://schemas.openxmlformats.org/drawingml/2006/main" noGrp="1"/>
          </p:cNvSpPr>
          <p:nvPr/>
        </p:nvSpPr>
        <p:spPr>
          <a:xfrm xmlns:a="http://schemas.openxmlformats.org/drawingml/2006/main">
            <a:off x="81343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4</a:t>
            </a:r>
          </a:p>
        </p:txBody>
      </p:sp>
      <p:sp>
        <p:nvSpPr>
          <p:cNvPr id="13" name="">
            <a:extLst xmlns:a="http://schemas.openxmlformats.org/drawingml/2006/main">
              <a:ext uri="{FF2B5EF4-FFF2-40B4-BE49-F238E27FC236}">
                <a16:creationId xmlns:a16="http://schemas.microsoft.com/office/drawing/2014/main" id="{1B648658-77B0-4C5C-BE2F-FBB030B34E19}"/>
              </a:ext>
            </a:extLst>
          </p:cNvPr>
          <p:cNvSpPr>
            <a:spLocks xmlns:a="http://schemas.openxmlformats.org/drawingml/2006/main" noGrp="1"/>
          </p:cNvSpPr>
          <p:nvPr/>
        </p:nvSpPr>
        <p:spPr>
          <a:xfrm xmlns:a="http://schemas.openxmlformats.org/drawingml/2006/main">
            <a:off x="76104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18"/>
          </a:bodyPr>
          <a:lstStyle xmlns:a="http://schemas.openxmlformats.org/drawingml/2006/main"/>
          <a:p xmlns:a="http://schemas.openxmlformats.org/drawingml/2006/main">
            <a:pPr algn="ctr">
              <a:defRPr sz="1425" b="1">
                <a:solidFill>
                  <a:srgbClr val="AAC0B7"/>
                </a:solidFill>
                <a:latin typeface="Noto Sans"/>
                <a:ea typeface="Noto Sans"/>
                <a:cs typeface="Noto Sans"/>
              </a:defRPr>
            </a:pPr>
            <a:r>
              <a:rPr sz="1425" b="1">
                <a:solidFill>
                  <a:srgbClr val="AAC0B7"/>
                </a:solidFill>
                <a:latin typeface="Noto Sans"/>
                <a:ea typeface="Noto Sans"/>
                <a:cs typeface="Noto Sans"/>
              </a:rPr>
              <a:t>CALCULATOR</a:t>
            </a:r>
          </a:p>
        </p:txBody>
      </p:sp>
      <p:sp>
        <p:nvSpPr>
          <p:cNvPr id="14" name="">
            <a:extLst xmlns:a="http://schemas.openxmlformats.org/drawingml/2006/main">
              <a:ext uri="{FF2B5EF4-FFF2-40B4-BE49-F238E27FC236}">
                <a16:creationId xmlns:a16="http://schemas.microsoft.com/office/drawing/2014/main" id="{710374EB-4180-4BFD-905D-AD55377DD931}"/>
              </a:ext>
            </a:extLst>
          </p:cNvPr>
          <p:cNvSpPr>
            <a:spLocks xmlns:a="http://schemas.openxmlformats.org/drawingml/2006/main" noGrp="1"/>
          </p:cNvSpPr>
          <p:nvPr/>
        </p:nvSpPr>
        <p:spPr>
          <a:xfrm xmlns:a="http://schemas.openxmlformats.org/drawingml/2006/main">
            <a:off x="10210800" y="2571750"/>
            <a:ext cx="285750" cy="285750"/>
          </a:xfrm>
          <a:prstGeom xmlns:a="http://schemas.openxmlformats.org/drawingml/2006/main" prst="ellipse">
            <a:avLst/>
          </a:prstGeom>
          <a:solidFill xmlns:a="http://schemas.openxmlformats.org/drawingml/2006/main">
            <a:srgbClr val="2FD39A"/>
          </a:solidFill>
          <a:ln xmlns:a="http://schemas.openxmlformats.org/drawingml/2006/main" w="28575">
            <a:solidFill>
              <a:srgbClr val="2FD39A"/>
            </a:solidFill>
            <a:prstDash val="solid"/>
          </a:ln>
        </p:spPr>
      </p:sp>
      <p:sp>
        <p:nvSpPr>
          <p:cNvPr id="15" name="">
            <a:extLst xmlns:a="http://schemas.openxmlformats.org/drawingml/2006/main">
              <a:ext uri="{FF2B5EF4-FFF2-40B4-BE49-F238E27FC236}">
                <a16:creationId xmlns:a16="http://schemas.microsoft.com/office/drawing/2014/main" id="{1567FFAA-0DB1-4C86-8061-54F90D5A4993}"/>
              </a:ext>
            </a:extLst>
          </p:cNvPr>
          <p:cNvSpPr>
            <a:spLocks xmlns:a="http://schemas.openxmlformats.org/drawingml/2006/main" noGrp="1"/>
          </p:cNvSpPr>
          <p:nvPr/>
        </p:nvSpPr>
        <p:spPr>
          <a:xfrm xmlns:a="http://schemas.openxmlformats.org/drawingml/2006/main">
            <a:off x="968692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5F8F6"/>
                </a:solidFill>
                <a:latin typeface="Noto Sans"/>
                <a:ea typeface="Noto Sans"/>
                <a:cs typeface="Noto Sans"/>
              </a:defRPr>
            </a:pPr>
            <a:r>
              <a:rPr sz="1650" b="1">
                <a:solidFill>
                  <a:srgbClr val="F5F8F6"/>
                </a:solidFill>
                <a:latin typeface="Noto Sans"/>
                <a:ea typeface="Noto Sans"/>
                <a:cs typeface="Noto Sans"/>
              </a:rPr>
              <a:t>QUOTE</a:t>
            </a:r>
          </a:p>
        </p:txBody>
      </p:sp>
      <p:cxnSp>
        <p:nvCxnSpPr>
          <p:cNvPr id="38" name=""/>
          <p:cNvCxnSpPr>
            <a:stCxn xmlns:a="http://schemas.openxmlformats.org/drawingml/2006/main" id="4" idx="6"/>
            <a:endCxn xmlns:a="http://schemas.openxmlformats.org/drawingml/2006/main" id="6" idx="2"/>
          </p:cNvCxnSpPr>
          <p:nvPr/>
        </p:nvCxnSpPr>
        <p:spPr>
          <a:xfrm xmlns:a="http://schemas.openxmlformats.org/drawingml/2006/main">
            <a:off x="11049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39" name=""/>
          <p:cNvCxnSpPr>
            <a:stCxn xmlns:a="http://schemas.openxmlformats.org/drawingml/2006/main" id="6" idx="6"/>
            <a:endCxn xmlns:a="http://schemas.openxmlformats.org/drawingml/2006/main" id="8" idx="2"/>
          </p:cNvCxnSpPr>
          <p:nvPr/>
        </p:nvCxnSpPr>
        <p:spPr>
          <a:xfrm xmlns:a="http://schemas.openxmlformats.org/drawingml/2006/main">
            <a:off x="29337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0" name=""/>
          <p:cNvCxnSpPr>
            <a:stCxn xmlns:a="http://schemas.openxmlformats.org/drawingml/2006/main" id="8" idx="6"/>
            <a:endCxn xmlns:a="http://schemas.openxmlformats.org/drawingml/2006/main" id="10" idx="2"/>
          </p:cNvCxnSpPr>
          <p:nvPr/>
        </p:nvCxnSpPr>
        <p:spPr>
          <a:xfrm xmlns:a="http://schemas.openxmlformats.org/drawingml/2006/main">
            <a:off x="47625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1" name=""/>
          <p:cNvCxnSpPr>
            <a:stCxn xmlns:a="http://schemas.openxmlformats.org/drawingml/2006/main" id="10" idx="6"/>
            <a:endCxn xmlns:a="http://schemas.openxmlformats.org/drawingml/2006/main" id="12" idx="2"/>
          </p:cNvCxnSpPr>
          <p:nvPr/>
        </p:nvCxnSpPr>
        <p:spPr>
          <a:xfrm xmlns:a="http://schemas.openxmlformats.org/drawingml/2006/main">
            <a:off x="65913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2" name=""/>
          <p:cNvCxnSpPr>
            <a:stCxn xmlns:a="http://schemas.openxmlformats.org/drawingml/2006/main" id="12" idx="6"/>
            <a:endCxn xmlns:a="http://schemas.openxmlformats.org/drawingml/2006/main" id="14" idx="2"/>
          </p:cNvCxnSpPr>
          <p:nvPr/>
        </p:nvCxnSpPr>
        <p:spPr>
          <a:xfrm xmlns:a="http://schemas.openxmlformats.org/drawingml/2006/main">
            <a:off x="8420100" y="2714625"/>
            <a:ext cx="1790700" cy="0"/>
          </a:xfrm>
          <a:prstGeom xmlns:a="http://schemas.openxmlformats.org/drawingml/2006/main" prst="straightConnector1">
            <a:avLst/>
          </a:prstGeom>
          <a:ln xmlns:a="http://schemas.openxmlformats.org/drawingml/2006/main" w="28575">
            <a:solidFill>
              <a:srgbClr val="517166"/>
            </a:solidFill>
            <a:prstDash val="solid"/>
          </a:ln>
        </p:spPr>
      </p:cxnSp>
      <p:sp>
        <p:nvSpPr>
          <p:cNvPr id="21" name="">
            <a:extLst xmlns:a="http://schemas.openxmlformats.org/drawingml/2006/main">
              <a:ext uri="{FF2B5EF4-FFF2-40B4-BE49-F238E27FC236}">
                <a16:creationId xmlns:a16="http://schemas.microsoft.com/office/drawing/2014/main" id="{05FBD604-E484-409E-AA3C-80E29E27A162}"/>
              </a:ext>
            </a:extLst>
          </p:cNvPr>
          <p:cNvSpPr>
            <a:spLocks xmlns:a="http://schemas.openxmlformats.org/drawingml/2006/main" noGrp="1"/>
          </p:cNvSpPr>
          <p:nvPr/>
        </p:nvSpPr>
        <p:spPr>
          <a:xfrm xmlns:a="http://schemas.openxmlformats.org/drawingml/2006/main">
            <a:off x="1352550" y="4267200"/>
            <a:ext cx="9486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ctr">
              <a:defRPr sz="3000" b="1">
                <a:solidFill>
                  <a:srgbClr val="F5F8F6"/>
                </a:solidFill>
                <a:latin typeface="Noto Sans"/>
                <a:ea typeface="Noto Sans"/>
                <a:cs typeface="Noto Sans"/>
              </a:defRPr>
            </a:pPr>
            <a:r>
              <a:rPr sz="3000" b="1">
                <a:solidFill>
                  <a:srgbClr val="F5F8F6"/>
                </a:solidFill>
                <a:latin typeface="Noto Sans"/>
                <a:ea typeface="Noto Sans"/>
                <a:cs typeface="Noto Sans"/>
              </a:rPr>
              <a:t>Public data fills inputs. Every number shows its source.</a:t>
            </a:r>
          </a:p>
        </p:txBody>
      </p:sp>
      <p:sp>
        <p:nvSpPr>
          <p:cNvPr id="22" name="">
            <a:extLst xmlns:a="http://schemas.openxmlformats.org/drawingml/2006/main">
              <a:ext uri="{FF2B5EF4-FFF2-40B4-BE49-F238E27FC236}">
                <a16:creationId xmlns:a16="http://schemas.microsoft.com/office/drawing/2014/main" id="{0463B0EF-EBD0-4785-89EA-26D6911A744E}"/>
              </a:ext>
            </a:extLst>
          </p:cNvPr>
          <p:cNvSpPr>
            <a:spLocks xmlns:a="http://schemas.openxmlformats.org/drawingml/2006/main" noGrp="1"/>
          </p:cNvSpPr>
          <p:nvPr/>
        </p:nvSpPr>
        <p:spPr>
          <a:xfrm xmlns:a="http://schemas.openxmlformats.org/drawingml/2006/main">
            <a:off x="590550" y="643890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0">
                <a:solidFill>
                  <a:srgbClr val="AAC0B7"/>
                </a:solidFill>
                <a:latin typeface="Noto Sans"/>
                <a:ea typeface="Noto Sans"/>
                <a:cs typeface="Noto Sans"/>
              </a:defRPr>
            </a:pPr>
            <a:r>
              <a:rPr sz="120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745236941"/>
      </p:ext>
    </p:extLst>
  </p:cSld>
</p:sld>
</file>

<file path=ppt/slides/slide4.xml><?xml version="1.0" encoding="utf-8"?>
<p:sld xmlns:p="http://schemas.openxmlformats.org/presentationml/2006/main">
  <p:cSld>
    <p:bg>
      <p:bgPr>
        <a:solidFill xmlns:a="http://schemas.openxmlformats.org/drawingml/2006/main">
          <a:srgbClr val="02050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EF8CC3-392F-49EC-B6B4-E51BFD3D311F}"/>
              </a:ext>
            </a:extLst>
          </p:cNvPr>
          <p:cNvSpPr>
            <a:spLocks xmlns:a="http://schemas.openxmlformats.org/drawingml/2006/main" noGrp="1"/>
          </p:cNvSpPr>
          <p:nvPr/>
        </p:nvSpPr>
        <p:spPr>
          <a:xfrm xmlns:a="http://schemas.openxmlformats.org/drawingml/2006/main">
            <a:off x="1447800" y="3295650"/>
            <a:ext cx="929640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4194E9-B6EF-4A1A-A3DC-E512287339D9}"/>
              </a:ext>
            </a:extLst>
          </p:cNvPr>
          <p:cNvSpPr>
            <a:spLocks xmlns:a="http://schemas.openxmlformats.org/drawingml/2006/main" noGrp="1"/>
          </p:cNvSpPr>
          <p:nvPr/>
        </p:nvSpPr>
        <p:spPr>
          <a:xfrm xmlns:a="http://schemas.openxmlformats.org/drawingml/2006/main">
            <a:off x="1428750" y="240030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67"/>
          </a:bodyPr>
          <a:lstStyle xmlns:a="http://schemas.openxmlformats.org/drawingml/2006/main"/>
          <a:p xmlns:a="http://schemas.openxmlformats.org/drawingml/2006/main">
            <a:pPr algn="ctr">
              <a:defRPr sz="6000" b="1">
                <a:solidFill>
                  <a:srgbClr val="F5F8F6"/>
                </a:solidFill>
                <a:latin typeface="Noto Sans"/>
                <a:ea typeface="Noto Sans"/>
                <a:cs typeface="Noto Sans"/>
              </a:defRPr>
            </a:pPr>
            <a:r>
              <a:rPr sz="6000" b="1">
                <a:solidFill>
                  <a:srgbClr val="F5F8F6"/>
                </a:solidFill>
                <a:latin typeface="Noto Sans"/>
                <a:ea typeface="Noto Sans"/>
                <a:cs typeface="Noto Sans"/>
              </a:rPr>
              <a:t>Live demo</a:t>
            </a:r>
          </a:p>
        </p:txBody>
      </p:sp>
      <p:sp>
        <p:nvSpPr>
          <p:cNvPr id="3" name="">
            <a:extLst xmlns:a="http://schemas.openxmlformats.org/drawingml/2006/main">
              <a:ext uri="{FF2B5EF4-FFF2-40B4-BE49-F238E27FC236}">
                <a16:creationId xmlns:a16="http://schemas.microsoft.com/office/drawing/2014/main" id="{0B5F6FBF-2C18-4492-B081-1664C767DEA9}"/>
              </a:ext>
            </a:extLst>
          </p:cNvPr>
          <p:cNvSpPr>
            <a:spLocks xmlns:a="http://schemas.openxmlformats.org/drawingml/2006/main" noGrp="1"/>
          </p:cNvSpPr>
          <p:nvPr/>
        </p:nvSpPr>
        <p:spPr>
          <a:xfrm xmlns:a="http://schemas.openxmlformats.org/drawingml/2006/main">
            <a:off x="1428750" y="36385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0">
                <a:solidFill>
                  <a:srgbClr val="AAC0B7"/>
                </a:solidFill>
                <a:latin typeface="Noto Sans"/>
                <a:ea typeface="Noto Sans"/>
                <a:cs typeface="Noto Sans"/>
              </a:defRPr>
            </a:pPr>
            <a:r>
              <a:rPr sz="1875" b="0">
                <a:solidFill>
                  <a:srgbClr val="AAC0B7"/>
                </a:solidFill>
                <a:latin typeface="Noto Sans"/>
                <a:ea typeface="Noto Sans"/>
                <a:cs typeface="Noto Sans"/>
              </a:rPr>
              <a:t>110 seconds</a:t>
            </a:r>
          </a:p>
        </p:txBody>
      </p:sp>
    </p:spTree>
    <p:extLst>
      <p:ext uri="{BB962C8B-B14F-4D97-AF65-F5344CB8AC3E}">
        <p14:creationId xmlns:p14="http://schemas.microsoft.com/office/powerpoint/2010/main" val="183799157"/>
      </p:ext>
    </p:extLst>
  </p:cSld>
</p:sld>
</file>

<file path=ppt/slides/slide5.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765666-3926-49DB-BECC-6BD08BC55EE9}"/>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04</a:t>
            </a:r>
          </a:p>
        </p:txBody>
      </p:sp>
      <p:sp>
        <p:nvSpPr>
          <p:cNvPr id="2" name="">
            <a:extLst xmlns:a="http://schemas.openxmlformats.org/drawingml/2006/main">
              <a:ext uri="{FF2B5EF4-FFF2-40B4-BE49-F238E27FC236}">
                <a16:creationId xmlns:a16="http://schemas.microsoft.com/office/drawing/2014/main" id="{A54CE445-F2DE-45FC-AE91-6D696023B816}"/>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Reference test</a:t>
            </a:r>
          </a:p>
        </p:txBody>
      </p:sp>
      <p:sp>
        <p:nvSpPr>
          <p:cNvPr id="3" name="">
            <a:extLst xmlns:a="http://schemas.openxmlformats.org/drawingml/2006/main">
              <a:ext uri="{FF2B5EF4-FFF2-40B4-BE49-F238E27FC236}">
                <a16:creationId xmlns:a16="http://schemas.microsoft.com/office/drawing/2014/main" id="{D21EC231-3F47-408E-BAE5-8AC03C226202}"/>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68E68C-56AA-49CC-8CD7-1A0B19CC1488}"/>
              </a:ext>
            </a:extLst>
          </p:cNvPr>
          <p:cNvSpPr>
            <a:spLocks xmlns:a="http://schemas.openxmlformats.org/drawingml/2006/main" noGrp="1"/>
          </p:cNvSpPr>
          <p:nvPr/>
        </p:nvSpPr>
        <p:spPr>
          <a:xfrm xmlns:a="http://schemas.openxmlformats.org/drawingml/2006/main">
            <a:off x="685800" y="2000250"/>
            <a:ext cx="4476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8850" b="1">
                <a:solidFill>
                  <a:srgbClr val="2FD39A"/>
                </a:solidFill>
                <a:latin typeface="Noto Sans"/>
                <a:ea typeface="Noto Sans"/>
                <a:cs typeface="Noto Sans"/>
              </a:defRPr>
            </a:pPr>
            <a:r>
              <a:rPr sz="8850" b="1">
                <a:solidFill>
                  <a:srgbClr val="2FD39A"/>
                </a:solidFill>
                <a:latin typeface="Noto Sans"/>
                <a:ea typeface="Noto Sans"/>
                <a:cs typeface="Noto Sans"/>
              </a:rPr>
              <a:t>0.1%</a:t>
            </a:r>
          </a:p>
        </p:txBody>
      </p:sp>
      <p:sp>
        <p:nvSpPr>
          <p:cNvPr id="5" name="">
            <a:extLst xmlns:a="http://schemas.openxmlformats.org/drawingml/2006/main">
              <a:ext uri="{FF2B5EF4-FFF2-40B4-BE49-F238E27FC236}">
                <a16:creationId xmlns:a16="http://schemas.microsoft.com/office/drawing/2014/main" id="{BA72E920-0229-43A1-9D8C-8A04EC98E002}"/>
              </a:ext>
            </a:extLst>
          </p:cNvPr>
          <p:cNvSpPr>
            <a:spLocks xmlns:a="http://schemas.openxmlformats.org/drawingml/2006/main" noGrp="1"/>
          </p:cNvSpPr>
          <p:nvPr/>
        </p:nvSpPr>
        <p:spPr>
          <a:xfrm xmlns:a="http://schemas.openxmlformats.org/drawingml/2006/main">
            <a:off x="742950" y="3476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0">
                <a:solidFill>
                  <a:srgbClr val="AAC0B7"/>
                </a:solidFill>
                <a:latin typeface="Noto Sans"/>
                <a:ea typeface="Noto Sans"/>
                <a:cs typeface="Noto Sans"/>
              </a:defRPr>
            </a:pPr>
            <a:r>
              <a:rPr sz="2100" b="0">
                <a:solidFill>
                  <a:srgbClr val="AAC0B7"/>
                </a:solidFill>
                <a:latin typeface="Noto Sans"/>
                <a:ea typeface="Noto Sans"/>
                <a:cs typeface="Noto Sans"/>
              </a:rPr>
              <a:t>test tolerance</a:t>
            </a:r>
          </a:p>
        </p:txBody>
      </p:sp>
      <p:sp>
        <p:nvSpPr>
          <p:cNvPr id="6" name="">
            <a:extLst xmlns:a="http://schemas.openxmlformats.org/drawingml/2006/main">
              <a:ext uri="{FF2B5EF4-FFF2-40B4-BE49-F238E27FC236}">
                <a16:creationId xmlns:a16="http://schemas.microsoft.com/office/drawing/2014/main" id="{4436582E-8013-45A7-B3DB-318707F7EF35}"/>
              </a:ext>
            </a:extLst>
          </p:cNvPr>
          <p:cNvSpPr>
            <a:spLocks xmlns:a="http://schemas.openxmlformats.org/drawingml/2006/main" noGrp="1"/>
          </p:cNvSpPr>
          <p:nvPr/>
        </p:nvSpPr>
        <p:spPr>
          <a:xfrm xmlns:a="http://schemas.openxmlformats.org/drawingml/2006/main">
            <a:off x="5943600" y="215265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F5F8F6"/>
                </a:solidFill>
                <a:latin typeface="Noto Sans"/>
                <a:ea typeface="Noto Sans"/>
                <a:cs typeface="Noto Sans"/>
              </a:defRPr>
            </a:pPr>
            <a:r>
              <a:rPr sz="2850" b="1">
                <a:solidFill>
                  <a:srgbClr val="F5F8F6"/>
                </a:solidFill>
                <a:latin typeface="Noto Sans"/>
                <a:ea typeface="Noto Sans"/>
                <a:cs typeface="Noto Sans"/>
              </a:rPr>
              <a:t>Deterministic math</a:t>
            </a:r>
          </a:p>
        </p:txBody>
      </p:sp>
      <p:sp>
        <p:nvSpPr>
          <p:cNvPr id="7" name="">
            <a:extLst xmlns:a="http://schemas.openxmlformats.org/drawingml/2006/main">
              <a:ext uri="{FF2B5EF4-FFF2-40B4-BE49-F238E27FC236}">
                <a16:creationId xmlns:a16="http://schemas.microsoft.com/office/drawing/2014/main" id="{FDC4D41D-1745-4FCE-8AD6-1D1FAC9151F0}"/>
              </a:ext>
            </a:extLst>
          </p:cNvPr>
          <p:cNvSpPr>
            <a:spLocks xmlns:a="http://schemas.openxmlformats.org/drawingml/2006/main" noGrp="1"/>
          </p:cNvSpPr>
          <p:nvPr/>
        </p:nvSpPr>
        <p:spPr>
          <a:xfrm xmlns:a="http://schemas.openxmlformats.org/drawingml/2006/main">
            <a:off x="5943600" y="2857500"/>
            <a:ext cx="4572000" cy="19050"/>
          </a:xfrm>
          <a:prstGeom xmlns:a="http://schemas.openxmlformats.org/drawingml/2006/main" prst="rect">
            <a:avLst/>
          </a:prstGeom>
          <a:solidFill xmlns:a="http://schemas.openxmlformats.org/drawingml/2006/main">
            <a:srgbClr val="51716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47F965-D4A9-4DCA-BFBC-0544CF88B64D}"/>
              </a:ext>
            </a:extLst>
          </p:cNvPr>
          <p:cNvSpPr>
            <a:spLocks xmlns:a="http://schemas.openxmlformats.org/drawingml/2006/main" noGrp="1"/>
          </p:cNvSpPr>
          <p:nvPr/>
        </p:nvSpPr>
        <p:spPr>
          <a:xfrm xmlns:a="http://schemas.openxmlformats.org/drawingml/2006/main">
            <a:off x="5943600" y="30956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F5F8F6"/>
                </a:solidFill>
                <a:latin typeface="Noto Sans"/>
                <a:ea typeface="Noto Sans"/>
                <a:cs typeface="Noto Sans"/>
              </a:defRPr>
            </a:pPr>
            <a:r>
              <a:rPr sz="2325" b="0">
                <a:solidFill>
                  <a:srgbClr val="F5F8F6"/>
                </a:solidFill>
                <a:latin typeface="Noto Sans"/>
                <a:ea typeface="Noto Sans"/>
                <a:cs typeface="Noto Sans"/>
              </a:rPr>
              <a:t>Source and confidence stay visible</a:t>
            </a:r>
          </a:p>
        </p:txBody>
      </p:sp>
      <p:sp>
        <p:nvSpPr>
          <p:cNvPr id="9" name="">
            <a:extLst xmlns:a="http://schemas.openxmlformats.org/drawingml/2006/main">
              <a:ext uri="{FF2B5EF4-FFF2-40B4-BE49-F238E27FC236}">
                <a16:creationId xmlns:a16="http://schemas.microsoft.com/office/drawing/2014/main" id="{0D51E9AE-5873-46E6-9B1B-C6AC8A36DEA1}"/>
              </a:ext>
            </a:extLst>
          </p:cNvPr>
          <p:cNvSpPr>
            <a:spLocks xmlns:a="http://schemas.openxmlformats.org/drawingml/2006/main" noGrp="1"/>
          </p:cNvSpPr>
          <p:nvPr/>
        </p:nvSpPr>
        <p:spPr>
          <a:xfrm xmlns:a="http://schemas.openxmlformats.org/drawingml/2006/main">
            <a:off x="5943600" y="40005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F5F8F6"/>
                </a:solidFill>
                <a:latin typeface="Noto Sans"/>
                <a:ea typeface="Noto Sans"/>
                <a:cs typeface="Noto Sans"/>
              </a:defRPr>
            </a:pPr>
            <a:r>
              <a:rPr sz="2325" b="0">
                <a:solidFill>
                  <a:srgbClr val="F5F8F6"/>
                </a:solidFill>
                <a:latin typeface="Noto Sans"/>
                <a:ea typeface="Noto Sans"/>
                <a:cs typeface="Noto Sans"/>
              </a:rPr>
              <a:t>Unknown cost stays unknown</a:t>
            </a:r>
          </a:p>
        </p:txBody>
      </p:sp>
      <p:sp>
        <p:nvSpPr>
          <p:cNvPr id="10" name="">
            <a:extLst xmlns:a="http://schemas.openxmlformats.org/drawingml/2006/main">
              <a:ext uri="{FF2B5EF4-FFF2-40B4-BE49-F238E27FC236}">
                <a16:creationId xmlns:a16="http://schemas.microsoft.com/office/drawing/2014/main" id="{A14E0FCA-4989-4359-B203-B06F4FF594E2}"/>
              </a:ext>
            </a:extLst>
          </p:cNvPr>
          <p:cNvSpPr>
            <a:spLocks xmlns:a="http://schemas.openxmlformats.org/drawingml/2006/main" noGrp="1"/>
          </p:cNvSpPr>
          <p:nvPr/>
        </p:nvSpPr>
        <p:spPr>
          <a:xfrm xmlns:a="http://schemas.openxmlformats.org/drawingml/2006/main">
            <a:off x="685800" y="5810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69B62"/>
                </a:solidFill>
                <a:latin typeface="Noto Sans"/>
                <a:ea typeface="Noto Sans"/>
                <a:cs typeface="Noto Sans"/>
              </a:defRPr>
            </a:pPr>
            <a:r>
              <a:rPr sz="1500" b="0">
                <a:solidFill>
                  <a:srgbClr val="F69B62"/>
                </a:solidFill>
                <a:latin typeface="Noto Sans"/>
                <a:ea typeface="Noto Sans"/>
                <a:cs typeface="Noto Sans"/>
              </a:rPr>
              <a:t>Workbook values omitted because reuse permission remains unconfirmed.</a:t>
            </a:r>
          </a:p>
        </p:txBody>
      </p:sp>
    </p:spTree>
    <p:extLst>
      <p:ext uri="{BB962C8B-B14F-4D97-AF65-F5344CB8AC3E}">
        <p14:creationId xmlns:p14="http://schemas.microsoft.com/office/powerpoint/2010/main" val="1600858490"/>
      </p:ext>
    </p:extLst>
  </p:cSld>
</p:sld>
</file>

<file path=ppt/slides/slide6.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25DC7F-E965-4AD2-B4D0-D3FA42575C90}"/>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05</a:t>
            </a:r>
          </a:p>
        </p:txBody>
      </p:sp>
      <p:sp>
        <p:nvSpPr>
          <p:cNvPr id="2" name="">
            <a:extLst xmlns:a="http://schemas.openxmlformats.org/drawingml/2006/main">
              <a:ext uri="{FF2B5EF4-FFF2-40B4-BE49-F238E27FC236}">
                <a16:creationId xmlns:a16="http://schemas.microsoft.com/office/drawing/2014/main" id="{7511598A-DC3E-4A76-8545-ECB5309A30FE}"/>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One tool, three decisions</a:t>
            </a:r>
          </a:p>
        </p:txBody>
      </p:sp>
      <p:sp>
        <p:nvSpPr>
          <p:cNvPr id="3" name="">
            <a:extLst xmlns:a="http://schemas.openxmlformats.org/drawingml/2006/main">
              <a:ext uri="{FF2B5EF4-FFF2-40B4-BE49-F238E27FC236}">
                <a16:creationId xmlns:a16="http://schemas.microsoft.com/office/drawing/2014/main" id="{05611327-238A-4B46-925B-064C863CDCFA}"/>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32d7b84c9ab4276"/>
          <a:srcRect xmlns:a="http://schemas.openxmlformats.org/drawingml/2006/main" l="20684" t="0" r="20684" b="0"/>
          <a:stretch xmlns:a="http://schemas.openxmlformats.org/drawingml/2006/main">
            <a:fillRect l="0" t="0" r="0" b="0"/>
          </a:stretch>
        </p:blipFill>
        <p:spPr>
          <a:xfrm xmlns:a="http://schemas.openxmlformats.org/drawingml/2006/main">
            <a:off x="6477000" y="1143000"/>
            <a:ext cx="571500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D4E31C3-0C5A-4947-A90B-6F48EE8A9968}"/>
              </a:ext>
            </a:extLst>
          </p:cNvPr>
          <p:cNvSpPr>
            <a:spLocks xmlns:a="http://schemas.openxmlformats.org/drawingml/2006/main" noGrp="1"/>
          </p:cNvSpPr>
          <p:nvPr/>
        </p:nvSpPr>
        <p:spPr>
          <a:xfrm xmlns:a="http://schemas.openxmlformats.org/drawingml/2006/main">
            <a:off x="6191250" y="1143000"/>
            <a:ext cx="6000750" cy="4953000"/>
          </a:xfrm>
          <a:prstGeom xmlns:a="http://schemas.openxmlformats.org/drawingml/2006/main" prst="rect">
            <a:avLst/>
          </a:prstGeom>
          <a:solidFill xmlns:a="http://schemas.openxmlformats.org/drawingml/2006/main">
            <a:srgbClr val="07110E">
              <a:alpha val="32000"/>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C7C79A-B460-4385-BFD0-A85AE65DB57D}"/>
              </a:ext>
            </a:extLst>
          </p:cNvPr>
          <p:cNvSpPr>
            <a:spLocks xmlns:a="http://schemas.openxmlformats.org/drawingml/2006/main" noGrp="1"/>
          </p:cNvSpPr>
          <p:nvPr/>
        </p:nvSpPr>
        <p:spPr>
          <a:xfrm xmlns:a="http://schemas.openxmlformats.org/drawingml/2006/main">
            <a:off x="685800" y="18288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71"/>
          </a:bodyPr>
          <a:lstStyle xmlns:a="http://schemas.openxmlformats.org/drawingml/2006/main"/>
          <a:p xmlns:a="http://schemas.openxmlformats.org/drawingml/2006/main">
            <a:pPr algn="l">
              <a:defRPr sz="9450" b="1">
                <a:solidFill>
                  <a:srgbClr val="2FD39A"/>
                </a:solidFill>
                <a:latin typeface="Noto Sans"/>
                <a:ea typeface="Noto Sans"/>
                <a:cs typeface="Noto Sans"/>
              </a:defRPr>
            </a:pPr>
            <a:r>
              <a:rPr sz="9450" b="1">
                <a:solidFill>
                  <a:srgbClr val="2FD39A"/>
                </a:solidFill>
                <a:latin typeface="Noto Sans"/>
                <a:ea typeface="Noto Sans"/>
                <a:cs typeface="Noto Sans"/>
              </a:rPr>
              <a:t>300</a:t>
            </a:r>
          </a:p>
        </p:txBody>
      </p:sp>
      <p:sp>
        <p:nvSpPr>
          <p:cNvPr id="7" name="">
            <a:extLst xmlns:a="http://schemas.openxmlformats.org/drawingml/2006/main">
              <a:ext uri="{FF2B5EF4-FFF2-40B4-BE49-F238E27FC236}">
                <a16:creationId xmlns:a16="http://schemas.microsoft.com/office/drawing/2014/main" id="{CAF1D33B-3E6A-4FE3-8D5B-4CBF48201DE2}"/>
              </a:ext>
            </a:extLst>
          </p:cNvPr>
          <p:cNvSpPr>
            <a:spLocks xmlns:a="http://schemas.openxmlformats.org/drawingml/2006/main" noGrp="1"/>
          </p:cNvSpPr>
          <p:nvPr/>
        </p:nvSpPr>
        <p:spPr>
          <a:xfrm xmlns:a="http://schemas.openxmlformats.org/drawingml/2006/main">
            <a:off x="742950" y="33147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8F6"/>
                </a:solidFill>
                <a:latin typeface="Noto Sans"/>
                <a:ea typeface="Noto Sans"/>
                <a:cs typeface="Noto Sans"/>
              </a:defRPr>
            </a:pPr>
            <a:r>
              <a:rPr sz="2625" b="1">
                <a:solidFill>
                  <a:srgbClr val="F5F8F6"/>
                </a:solidFill>
                <a:latin typeface="Noto Sans"/>
                <a:ea typeface="Noto Sans"/>
                <a:cs typeface="Noto Sans"/>
              </a:rPr>
              <a:t>Buffalo buildings mapped</a:t>
            </a:r>
          </a:p>
        </p:txBody>
      </p:sp>
      <p:sp>
        <p:nvSpPr>
          <p:cNvPr id="8" name="">
            <a:extLst xmlns:a="http://schemas.openxmlformats.org/drawingml/2006/main">
              <a:ext uri="{FF2B5EF4-FFF2-40B4-BE49-F238E27FC236}">
                <a16:creationId xmlns:a16="http://schemas.microsoft.com/office/drawing/2014/main" id="{AD19BDC1-BAD0-44BF-9409-6CA47C45A3A5}"/>
              </a:ext>
            </a:extLst>
          </p:cNvPr>
          <p:cNvSpPr>
            <a:spLocks xmlns:a="http://schemas.openxmlformats.org/drawingml/2006/main" noGrp="1"/>
          </p:cNvSpPr>
          <p:nvPr/>
        </p:nvSpPr>
        <p:spPr>
          <a:xfrm xmlns:a="http://schemas.openxmlformats.org/drawingml/2006/main">
            <a:off x="781050" y="4476750"/>
            <a:ext cx="138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REP</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quote</a:t>
            </a:r>
          </a:p>
        </p:txBody>
      </p:sp>
      <p:sp>
        <p:nvSpPr>
          <p:cNvPr id="9" name="">
            <a:extLst xmlns:a="http://schemas.openxmlformats.org/drawingml/2006/main">
              <a:ext uri="{FF2B5EF4-FFF2-40B4-BE49-F238E27FC236}">
                <a16:creationId xmlns:a16="http://schemas.microsoft.com/office/drawing/2014/main" id="{3EA8C0DD-1163-47BD-86AE-3DBD42BC9524}"/>
              </a:ext>
            </a:extLst>
          </p:cNvPr>
          <p:cNvSpPr>
            <a:spLocks xmlns:a="http://schemas.openxmlformats.org/drawingml/2006/main" noGrp="1"/>
          </p:cNvSpPr>
          <p:nvPr/>
        </p:nvSpPr>
        <p:spPr>
          <a:xfrm xmlns:a="http://schemas.openxmlformats.org/drawingml/2006/main">
            <a:off x="2381250" y="44767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MANAGER</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ranked prospects</a:t>
            </a:r>
          </a:p>
        </p:txBody>
      </p:sp>
      <p:sp>
        <p:nvSpPr>
          <p:cNvPr id="10" name="">
            <a:extLst xmlns:a="http://schemas.openxmlformats.org/drawingml/2006/main">
              <a:ext uri="{FF2B5EF4-FFF2-40B4-BE49-F238E27FC236}">
                <a16:creationId xmlns:a16="http://schemas.microsoft.com/office/drawing/2014/main" id="{0E14FF27-7BAD-44B1-BD97-17722AF4C7DE}"/>
              </a:ext>
            </a:extLst>
          </p:cNvPr>
          <p:cNvSpPr>
            <a:spLocks xmlns:a="http://schemas.openxmlformats.org/drawingml/2006/main" noGrp="1"/>
          </p:cNvSpPr>
          <p:nvPr/>
        </p:nvSpPr>
        <p:spPr>
          <a:xfrm xmlns:a="http://schemas.openxmlformats.org/drawingml/2006/main">
            <a:off x="4381500" y="44767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CUSTOMER</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one page</a:t>
            </a:r>
          </a:p>
        </p:txBody>
      </p:sp>
      <p:sp>
        <p:nvSpPr>
          <p:cNvPr id="11" name="">
            <a:extLst xmlns:a="http://schemas.openxmlformats.org/drawingml/2006/main">
              <a:ext uri="{FF2B5EF4-FFF2-40B4-BE49-F238E27FC236}">
                <a16:creationId xmlns:a16="http://schemas.microsoft.com/office/drawing/2014/main" id="{E231B50B-2B56-4341-9EFD-9CBD9C25F6F0}"/>
              </a:ext>
            </a:extLst>
          </p:cNvPr>
          <p:cNvSpPr>
            <a:spLocks xmlns:a="http://schemas.openxmlformats.org/drawingml/2006/main" noGrp="1"/>
          </p:cNvSpPr>
          <p:nvPr/>
        </p:nvSpPr>
        <p:spPr>
          <a:xfrm xmlns:a="http://schemas.openxmlformats.org/drawingml/2006/main">
            <a:off x="742950" y="60198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F69B62"/>
                </a:solidFill>
                <a:latin typeface="Noto Sans"/>
                <a:ea typeface="Noto Sans"/>
                <a:cs typeface="Noto Sans"/>
              </a:defRPr>
            </a:pPr>
            <a:r>
              <a:rPr sz="1275" b="0">
                <a:solidFill>
                  <a:srgbClr val="F69B62"/>
                </a:solidFill>
                <a:latin typeface="Noto Sans"/>
                <a:ea typeface="Noto Sans"/>
                <a:cs typeface="Noto Sans"/>
              </a:rPr>
              <a:t>NOCO opportunity figures remain ILLUSTRATIVE.</a:t>
            </a:r>
          </a:p>
        </p:txBody>
      </p:sp>
      <p:sp>
        <p:nvSpPr>
          <p:cNvPr id="12" name="">
            <a:extLst xmlns:a="http://schemas.openxmlformats.org/drawingml/2006/main">
              <a:ext uri="{FF2B5EF4-FFF2-40B4-BE49-F238E27FC236}">
                <a16:creationId xmlns:a16="http://schemas.microsoft.com/office/drawing/2014/main" id="{338FFFEA-1E00-439B-8306-5DA6A4958B5A}"/>
              </a:ext>
            </a:extLst>
          </p:cNvPr>
          <p:cNvSpPr>
            <a:spLocks xmlns:a="http://schemas.openxmlformats.org/drawingml/2006/main" noGrp="1"/>
          </p:cNvSpPr>
          <p:nvPr/>
        </p:nvSpPr>
        <p:spPr>
          <a:xfrm xmlns:a="http://schemas.openxmlformats.org/drawingml/2006/main">
            <a:off x="8572500" y="64579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r">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716288614"/>
      </p:ext>
    </p:extLst>
  </p:cSld>
</p:sld>
</file>

<file path=ppt/slides/slide7.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A954FD-F5E6-4512-A446-0627A575C14F}"/>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06</a:t>
            </a:r>
          </a:p>
        </p:txBody>
      </p:sp>
      <p:sp>
        <p:nvSpPr>
          <p:cNvPr id="2" name="">
            <a:extLst xmlns:a="http://schemas.openxmlformats.org/drawingml/2006/main">
              <a:ext uri="{FF2B5EF4-FFF2-40B4-BE49-F238E27FC236}">
                <a16:creationId xmlns:a16="http://schemas.microsoft.com/office/drawing/2014/main" id="{D4310BE2-787A-4757-95F1-3462FA76E719}"/>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The same pipeline extends</a:t>
            </a:r>
          </a:p>
        </p:txBody>
      </p:sp>
      <p:sp>
        <p:nvSpPr>
          <p:cNvPr id="3" name="">
            <a:extLst xmlns:a="http://schemas.openxmlformats.org/drawingml/2006/main">
              <a:ext uri="{FF2B5EF4-FFF2-40B4-BE49-F238E27FC236}">
                <a16:creationId xmlns:a16="http://schemas.microsoft.com/office/drawing/2014/main" id="{8550419B-DF59-4C5F-A56C-6176F030E214}"/>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07bf8604b074f3d"/>
          <a:srcRect xmlns:a="http://schemas.openxmlformats.org/drawingml/2006/main" l="12252" t="0" r="12252" b="0"/>
          <a:stretch xmlns:a="http://schemas.openxmlformats.org/drawingml/2006/main">
            <a:fillRect l="0" t="0" r="0" b="0"/>
          </a:stretch>
        </p:blipFill>
        <p:spPr>
          <a:xfrm xmlns:a="http://schemas.openxmlformats.org/drawingml/2006/main">
            <a:off x="647700" y="1885950"/>
            <a:ext cx="4953000"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8FE0AF-4F1B-48BF-A8B4-04689B731190}"/>
              </a:ext>
            </a:extLst>
          </p:cNvPr>
          <p:cNvSpPr>
            <a:spLocks xmlns:a="http://schemas.openxmlformats.org/drawingml/2006/main" noGrp="1"/>
          </p:cNvSpPr>
          <p:nvPr/>
        </p:nvSpPr>
        <p:spPr>
          <a:xfrm xmlns:a="http://schemas.openxmlformats.org/drawingml/2006/main">
            <a:off x="647700" y="1885950"/>
            <a:ext cx="4953000" cy="3333750"/>
          </a:xfrm>
          <a:prstGeom xmlns:a="http://schemas.openxmlformats.org/drawingml/2006/main" prst="rect">
            <a:avLst/>
          </a:prstGeom>
          <a:solidFill xmlns:a="http://schemas.openxmlformats.org/drawingml/2006/main">
            <a:srgbClr val="07110E">
              <a:alpha val="26000"/>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105219-1D86-4603-A556-81CCEDE14CED}"/>
              </a:ext>
            </a:extLst>
          </p:cNvPr>
          <p:cNvSpPr>
            <a:spLocks xmlns:a="http://schemas.openxmlformats.org/drawingml/2006/main" noGrp="1"/>
          </p:cNvSpPr>
          <p:nvPr/>
        </p:nvSpPr>
        <p:spPr>
          <a:xfrm xmlns:a="http://schemas.openxmlformats.org/drawingml/2006/main">
            <a:off x="6286500" y="19526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982"/>
          </a:bodyPr>
          <a:lstStyle xmlns:a="http://schemas.openxmlformats.org/drawingml/2006/main"/>
          <a:p xmlns:a="http://schemas.openxmlformats.org/drawingml/2006/main">
            <a:pPr algn="l">
              <a:defRPr sz="2850" b="1">
                <a:solidFill>
                  <a:srgbClr val="2FD39A"/>
                </a:solidFill>
                <a:latin typeface="Noto Sans"/>
                <a:ea typeface="Noto Sans"/>
                <a:cs typeface="Noto Sans"/>
              </a:defRPr>
            </a:pPr>
            <a:r>
              <a:rPr sz="2850" b="1">
                <a:solidFill>
                  <a:srgbClr val="2FD39A"/>
                </a:solidFill>
                <a:latin typeface="Noto Sans"/>
                <a:ea typeface="Noto Sans"/>
                <a:cs typeface="Noto Sans"/>
              </a:rPr>
              <a:t>GIS inputs</a:t>
            </a:r>
          </a:p>
        </p:txBody>
      </p:sp>
      <p:sp>
        <p:nvSpPr>
          <p:cNvPr id="7" name="">
            <a:extLst xmlns:a="http://schemas.openxmlformats.org/drawingml/2006/main">
              <a:ext uri="{FF2B5EF4-FFF2-40B4-BE49-F238E27FC236}">
                <a16:creationId xmlns:a16="http://schemas.microsoft.com/office/drawing/2014/main" id="{3AA2AD97-D750-4736-82EE-7A81F9BF4FE5}"/>
              </a:ext>
            </a:extLst>
          </p:cNvPr>
          <p:cNvSpPr>
            <a:spLocks xmlns:a="http://schemas.openxmlformats.org/drawingml/2006/main" noGrp="1"/>
          </p:cNvSpPr>
          <p:nvPr/>
        </p:nvSpPr>
        <p:spPr>
          <a:xfrm xmlns:a="http://schemas.openxmlformats.org/drawingml/2006/main">
            <a:off x="6286500" y="27813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8F6"/>
                </a:solidFill>
                <a:latin typeface="Noto Sans"/>
                <a:ea typeface="Noto Sans"/>
                <a:cs typeface="Noto Sans"/>
              </a:defRPr>
            </a:pPr>
            <a:r>
              <a:rPr sz="2550" b="1">
                <a:solidFill>
                  <a:srgbClr val="F5F8F6"/>
                </a:solidFill>
                <a:latin typeface="Noto Sans"/>
                <a:ea typeface="Noto Sans"/>
                <a:cs typeface="Noto Sans"/>
              </a:rPr>
              <a:t>Provenance on hover</a:t>
            </a:r>
          </a:p>
        </p:txBody>
      </p:sp>
      <p:sp>
        <p:nvSpPr>
          <p:cNvPr id="8" name="">
            <a:extLst xmlns:a="http://schemas.openxmlformats.org/drawingml/2006/main">
              <a:ext uri="{FF2B5EF4-FFF2-40B4-BE49-F238E27FC236}">
                <a16:creationId xmlns:a16="http://schemas.microsoft.com/office/drawing/2014/main" id="{FBBFFD65-1EB6-4F97-87FA-F754B2A1BD4E}"/>
              </a:ext>
            </a:extLst>
          </p:cNvPr>
          <p:cNvSpPr>
            <a:spLocks xmlns:a="http://schemas.openxmlformats.org/drawingml/2006/main" noGrp="1"/>
          </p:cNvSpPr>
          <p:nvPr/>
        </p:nvSpPr>
        <p:spPr>
          <a:xfrm xmlns:a="http://schemas.openxmlformats.org/drawingml/2006/main">
            <a:off x="6286500" y="35814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8F6"/>
                </a:solidFill>
                <a:latin typeface="Noto Sans"/>
                <a:ea typeface="Noto Sans"/>
                <a:cs typeface="Noto Sans"/>
              </a:defRPr>
            </a:pPr>
            <a:r>
              <a:rPr sz="2550" b="1">
                <a:solidFill>
                  <a:srgbClr val="F5F8F6"/>
                </a:solidFill>
                <a:latin typeface="Noto Sans"/>
                <a:ea typeface="Noto Sans"/>
                <a:cs typeface="Noto Sans"/>
              </a:rPr>
              <a:t>Citywide prospecting</a:t>
            </a:r>
          </a:p>
        </p:txBody>
      </p:sp>
      <p:sp>
        <p:nvSpPr>
          <p:cNvPr id="9" name="">
            <a:extLst xmlns:a="http://schemas.openxmlformats.org/drawingml/2006/main">
              <a:ext uri="{FF2B5EF4-FFF2-40B4-BE49-F238E27FC236}">
                <a16:creationId xmlns:a16="http://schemas.microsoft.com/office/drawing/2014/main" id="{3B9E6250-78B1-43FB-BB24-6F83084BAE9C}"/>
              </a:ext>
            </a:extLst>
          </p:cNvPr>
          <p:cNvSpPr>
            <a:spLocks xmlns:a="http://schemas.openxmlformats.org/drawingml/2006/main" noGrp="1"/>
          </p:cNvSpPr>
          <p:nvPr/>
        </p:nvSpPr>
        <p:spPr>
          <a:xfrm xmlns:a="http://schemas.openxmlformats.org/drawingml/2006/main">
            <a:off x="6286500" y="4343400"/>
            <a:ext cx="4476750" cy="19050"/>
          </a:xfrm>
          <a:prstGeom xmlns:a="http://schemas.openxmlformats.org/drawingml/2006/main" prst="rect">
            <a:avLst/>
          </a:prstGeom>
          <a:solidFill xmlns:a="http://schemas.openxmlformats.org/drawingml/2006/main">
            <a:srgbClr val="51716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27DDBC1-DC8D-499B-A8D6-E8D6F9E9A9A8}"/>
              </a:ext>
            </a:extLst>
          </p:cNvPr>
          <p:cNvSpPr>
            <a:spLocks xmlns:a="http://schemas.openxmlformats.org/drawingml/2006/main" noGrp="1"/>
          </p:cNvSpPr>
          <p:nvPr/>
        </p:nvSpPr>
        <p:spPr>
          <a:xfrm xmlns:a="http://schemas.openxmlformats.org/drawingml/2006/main">
            <a:off x="6286500" y="46482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AAC0B7"/>
                </a:solidFill>
                <a:latin typeface="Noto Sans"/>
                <a:ea typeface="Noto Sans"/>
                <a:cs typeface="Noto Sans"/>
              </a:defRPr>
            </a:pPr>
            <a:r>
              <a:rPr sz="2025" b="0">
                <a:solidFill>
                  <a:srgbClr val="AAC0B7"/>
                </a:solidFill>
                <a:latin typeface="Noto Sans"/>
                <a:ea typeface="Noto Sans"/>
                <a:cs typeface="Noto Sans"/>
              </a:rPr>
              <a:t>Next: windows   HVAC   solar   CRM   more cities</a:t>
            </a:r>
          </a:p>
        </p:txBody>
      </p:sp>
      <p:sp>
        <p:nvSpPr>
          <p:cNvPr id="11" name="">
            <a:extLst xmlns:a="http://schemas.openxmlformats.org/drawingml/2006/main">
              <a:ext uri="{FF2B5EF4-FFF2-40B4-BE49-F238E27FC236}">
                <a16:creationId xmlns:a16="http://schemas.microsoft.com/office/drawing/2014/main" id="{A75A6EF5-C626-4F4C-9C1B-83FB4FE92B14}"/>
              </a:ext>
            </a:extLst>
          </p:cNvPr>
          <p:cNvSpPr>
            <a:spLocks xmlns:a="http://schemas.openxmlformats.org/drawingml/2006/main" noGrp="1"/>
          </p:cNvSpPr>
          <p:nvPr/>
        </p:nvSpPr>
        <p:spPr>
          <a:xfrm xmlns:a="http://schemas.openxmlformats.org/drawingml/2006/main">
            <a:off x="647700" y="645795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l">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689343930"/>
      </p:ext>
    </p:extLst>
  </p:cSld>
</p:sld>
</file>

<file path=ppt/slides/slide8.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453720-FD22-4700-B799-79EB9AE0392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6EF75C-7221-4E00-88C0-C8224E62E864}"/>
              </a:ext>
            </a:extLst>
          </p:cNvPr>
          <p:cNvSpPr>
            <a:spLocks xmlns:a="http://schemas.openxmlformats.org/drawingml/2006/main" noGrp="1"/>
          </p:cNvSpPr>
          <p:nvPr/>
        </p:nvSpPr>
        <p:spPr>
          <a:xfrm xmlns:a="http://schemas.openxmlformats.org/drawingml/2006/main">
            <a:off x="762000" y="76200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450" b="1">
                <a:solidFill>
                  <a:srgbClr val="AAC0B7"/>
                </a:solidFill>
                <a:latin typeface="Noto Sans"/>
                <a:ea typeface="Noto Sans"/>
                <a:cs typeface="Noto Sans"/>
              </a:defRPr>
            </a:pPr>
            <a:r>
              <a:rPr sz="3450" b="1">
                <a:solidFill>
                  <a:srgbClr val="AAC0B7"/>
                </a:solidFill>
                <a:latin typeface="Noto Sans"/>
                <a:ea typeface="Noto Sans"/>
                <a:cs typeface="Noto Sans"/>
              </a:rPr>
              <a:t>Pilot</a:t>
            </a:r>
          </a:p>
        </p:txBody>
      </p:sp>
      <p:sp>
        <p:nvSpPr>
          <p:cNvPr id="3" name="">
            <a:extLst xmlns:a="http://schemas.openxmlformats.org/drawingml/2006/main">
              <a:ext uri="{FF2B5EF4-FFF2-40B4-BE49-F238E27FC236}">
                <a16:creationId xmlns:a16="http://schemas.microsoft.com/office/drawing/2014/main" id="{B0506775-69BA-4EB5-97A9-EBAD4A08234F}"/>
              </a:ext>
            </a:extLst>
          </p:cNvPr>
          <p:cNvSpPr>
            <a:spLocks xmlns:a="http://schemas.openxmlformats.org/drawingml/2006/main" noGrp="1"/>
          </p:cNvSpPr>
          <p:nvPr/>
        </p:nvSpPr>
        <p:spPr>
          <a:xfrm xmlns:a="http://schemas.openxmlformats.org/drawingml/2006/main">
            <a:off x="723900" y="1428750"/>
            <a:ext cx="4095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05"/>
          </a:bodyPr>
          <a:lstStyle xmlns:a="http://schemas.openxmlformats.org/drawingml/2006/main"/>
          <a:p xmlns:a="http://schemas.openxmlformats.org/drawingml/2006/main">
            <a:pPr algn="l">
              <a:defRPr sz="12600" b="1">
                <a:solidFill>
                  <a:srgbClr val="2FD39A"/>
                </a:solidFill>
                <a:latin typeface="Noto Sans"/>
                <a:ea typeface="Noto Sans"/>
                <a:cs typeface="Noto Sans"/>
              </a:defRPr>
            </a:pPr>
            <a:r>
              <a:rPr sz="12600" b="1">
                <a:solidFill>
                  <a:srgbClr val="2FD39A"/>
                </a:solidFill>
                <a:latin typeface="Noto Sans"/>
                <a:ea typeface="Noto Sans"/>
                <a:cs typeface="Noto Sans"/>
              </a:rPr>
              <a:t>50</a:t>
            </a:r>
          </a:p>
        </p:txBody>
      </p:sp>
      <p:sp>
        <p:nvSpPr>
          <p:cNvPr id="4" name="">
            <a:extLst xmlns:a="http://schemas.openxmlformats.org/drawingml/2006/main">
              <a:ext uri="{FF2B5EF4-FFF2-40B4-BE49-F238E27FC236}">
                <a16:creationId xmlns:a16="http://schemas.microsoft.com/office/drawing/2014/main" id="{FC19C99E-7348-439B-81A4-887AECCC9C7E}"/>
              </a:ext>
            </a:extLst>
          </p:cNvPr>
          <p:cNvSpPr>
            <a:spLocks xmlns:a="http://schemas.openxmlformats.org/drawingml/2006/main" noGrp="1"/>
          </p:cNvSpPr>
          <p:nvPr/>
        </p:nvSpPr>
        <p:spPr>
          <a:xfrm xmlns:a="http://schemas.openxmlformats.org/drawingml/2006/main">
            <a:off x="781050" y="33528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F5F8F6"/>
                </a:solidFill>
                <a:latin typeface="Noto Sans"/>
                <a:ea typeface="Noto Sans"/>
                <a:cs typeface="Noto Sans"/>
              </a:defRPr>
            </a:pPr>
            <a:r>
              <a:rPr sz="3600" b="1">
                <a:solidFill>
                  <a:srgbClr val="F5F8F6"/>
                </a:solidFill>
                <a:latin typeface="Noto Sans"/>
                <a:ea typeface="Noto Sans"/>
                <a:cs typeface="Noto Sans"/>
              </a:rPr>
              <a:t>Buffalo buildings</a:t>
            </a:r>
          </a:p>
        </p:txBody>
      </p:sp>
      <p:sp>
        <p:nvSpPr>
          <p:cNvPr id="5" name="">
            <a:extLst xmlns:a="http://schemas.openxmlformats.org/drawingml/2006/main">
              <a:ext uri="{FF2B5EF4-FFF2-40B4-BE49-F238E27FC236}">
                <a16:creationId xmlns:a16="http://schemas.microsoft.com/office/drawing/2014/main" id="{F80630B0-844D-46FB-80A4-1321080581BB}"/>
              </a:ext>
            </a:extLst>
          </p:cNvPr>
          <p:cNvSpPr>
            <a:spLocks xmlns:a="http://schemas.openxmlformats.org/drawingml/2006/main" noGrp="1"/>
          </p:cNvSpPr>
          <p:nvPr/>
        </p:nvSpPr>
        <p:spPr>
          <a:xfrm xmlns:a="http://schemas.openxmlformats.org/drawingml/2006/main">
            <a:off x="781050" y="42672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00" b="0">
                <a:solidFill>
                  <a:srgbClr val="F5F8F6"/>
                </a:solidFill>
                <a:latin typeface="Noto Sans"/>
                <a:ea typeface="Noto Sans"/>
                <a:cs typeface="Noto Sans"/>
              </a:defRPr>
            </a:pPr>
            <a:r>
              <a:rPr sz="2400" b="0">
                <a:solidFill>
                  <a:srgbClr val="F5F8F6"/>
                </a:solidFill>
                <a:latin typeface="Noto Sans"/>
                <a:ea typeface="Noto Sans"/>
                <a:cs typeface="Noto Sans"/>
              </a:rPr>
              <a:t>One week with the NOCO sales team</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e458187687440d8"/>
          <a:stretch xmlns:a="http://schemas.openxmlformats.org/drawingml/2006/main"/>
        </p:blipFill>
        <p:spPr>
          <a:xfrm xmlns:a="http://schemas.openxmlformats.org/drawingml/2006/main">
            <a:off x="7939896" y="1733550"/>
            <a:ext cx="2884458" cy="1905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1E4A357-F412-4364-9B98-37364A4972BD}"/>
              </a:ext>
            </a:extLst>
          </p:cNvPr>
          <p:cNvSpPr>
            <a:spLocks xmlns:a="http://schemas.openxmlformats.org/drawingml/2006/main" noGrp="1"/>
          </p:cNvSpPr>
          <p:nvPr/>
        </p:nvSpPr>
        <p:spPr>
          <a:xfrm xmlns:a="http://schemas.openxmlformats.org/drawingml/2006/main">
            <a:off x="7429500" y="407670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3750" b="1">
                <a:solidFill>
                  <a:srgbClr val="F5F8F6"/>
                </a:solidFill>
                <a:latin typeface="Noto Sans"/>
                <a:ea typeface="Noto Sans"/>
                <a:cs typeface="Noto Sans"/>
              </a:defRPr>
            </a:pPr>
            <a:r>
              <a:rPr sz="3750" b="1">
                <a:solidFill>
                  <a:srgbClr val="F5F8F6"/>
                </a:solidFill>
                <a:latin typeface="Noto Sans"/>
                <a:ea typeface="Noto Sans"/>
                <a:cs typeface="Noto Sans"/>
              </a:rPr>
              <a:t>Thank you</a:t>
            </a:r>
          </a:p>
        </p:txBody>
      </p:sp>
      <p:sp>
        <p:nvSpPr>
          <p:cNvPr id="8" name="">
            <a:extLst xmlns:a="http://schemas.openxmlformats.org/drawingml/2006/main">
              <a:ext uri="{FF2B5EF4-FFF2-40B4-BE49-F238E27FC236}">
                <a16:creationId xmlns:a16="http://schemas.microsoft.com/office/drawing/2014/main" id="{C53FF9DB-DB6F-45BC-84CC-4F3CAEA515C1}"/>
              </a:ext>
            </a:extLst>
          </p:cNvPr>
          <p:cNvSpPr>
            <a:spLocks xmlns:a="http://schemas.openxmlformats.org/drawingml/2006/main" noGrp="1"/>
          </p:cNvSpPr>
          <p:nvPr/>
        </p:nvSpPr>
        <p:spPr>
          <a:xfrm xmlns:a="http://schemas.openxmlformats.org/drawingml/2006/main">
            <a:off x="7239000" y="5095875"/>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AAC0B7"/>
                </a:solidFill>
                <a:latin typeface="Noto Sans"/>
                <a:ea typeface="Noto Sans"/>
                <a:cs typeface="Noto Sans"/>
              </a:defRPr>
            </a:pPr>
            <a:r>
              <a:rPr sz="1425" b="0">
                <a:solidFill>
                  <a:srgbClr val="AAC0B7"/>
                </a:solidFill>
                <a:latin typeface="Noto Sans"/>
                <a:ea typeface="Noto Sans"/>
                <a:cs typeface="Noto Sans"/>
              </a:rPr>
              <a:t>Nguyen-Le-Tuan   Anh-08</a:t>
            </a:r>
          </a:p>
          <a:p xmlns:a="http://schemas.openxmlformats.org/drawingml/2006/main">
            <a:pPr algn="ctr">
              <a:defRPr sz="1425" b="0">
                <a:solidFill>
                  <a:srgbClr val="AAC0B7"/>
                </a:solidFill>
                <a:latin typeface="Noto Sans"/>
                <a:ea typeface="Noto Sans"/>
                <a:cs typeface="Noto Sans"/>
              </a:defRPr>
            </a:pPr>
            <a:r>
              <a:rPr sz="1425" b="0">
                <a:solidFill>
                  <a:srgbClr val="AAC0B7"/>
                </a:solidFill>
                <a:latin typeface="Noto Sans"/>
                <a:ea typeface="Noto Sans"/>
                <a:cs typeface="Noto Sans"/>
              </a:rPr>
              <a:t>phamvotriduc241106   NguyenQBao</a:t>
            </a:r>
          </a:p>
        </p:txBody>
      </p:sp>
    </p:spTree>
    <p:extLst>
      <p:ext uri="{BB962C8B-B14F-4D97-AF65-F5344CB8AC3E}">
        <p14:creationId xmlns:p14="http://schemas.microsoft.com/office/powerpoint/2010/main" val="212918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2026-10-03T17:39:54.9710000Z</dcterms:created>
  <dcterms:modified xsi:type="dcterms:W3CDTF">2026-10-03T17:39:54.9710000Z</dcterms:modified>
</coreProperties>
</file>